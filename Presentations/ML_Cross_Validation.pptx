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69" r:id="rId2"/>
    <p:sldId id="328" r:id="rId3"/>
    <p:sldId id="350" r:id="rId4"/>
    <p:sldId id="352" r:id="rId5"/>
    <p:sldId id="374" r:id="rId6"/>
    <p:sldId id="1663" r:id="rId7"/>
    <p:sldId id="1664" r:id="rId8"/>
    <p:sldId id="1662" r:id="rId9"/>
    <p:sldId id="1665" r:id="rId10"/>
    <p:sldId id="1666" r:id="rId11"/>
    <p:sldId id="384" r:id="rId12"/>
    <p:sldId id="363" r:id="rId13"/>
    <p:sldId id="259" r:id="rId14"/>
    <p:sldId id="376" r:id="rId15"/>
    <p:sldId id="375" r:id="rId16"/>
    <p:sldId id="367" r:id="rId17"/>
    <p:sldId id="377" r:id="rId18"/>
    <p:sldId id="379" r:id="rId19"/>
    <p:sldId id="380" r:id="rId20"/>
    <p:sldId id="378" r:id="rId21"/>
    <p:sldId id="337" r:id="rId22"/>
    <p:sldId id="382" r:id="rId23"/>
    <p:sldId id="383" r:id="rId24"/>
    <p:sldId id="387" r:id="rId25"/>
    <p:sldId id="1667" r:id="rId26"/>
    <p:sldId id="25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B4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snapToObjects="1" showGuides="1">
      <p:cViewPr varScale="1">
        <p:scale>
          <a:sx n="70" d="100"/>
          <a:sy n="70" d="100"/>
        </p:scale>
        <p:origin x="1138" y="278"/>
      </p:cViewPr>
      <p:guideLst>
        <p:guide orient="horz" pos="2160"/>
        <p:guide pos="3796"/>
      </p:guideLst>
    </p:cSldViewPr>
  </p:slideViewPr>
  <p:notesTextViewPr>
    <p:cViewPr>
      <p:scale>
        <a:sx n="100" d="100"/>
        <a:sy n="100" d="100"/>
      </p:scale>
      <p:origin x="0" y="0"/>
    </p:cViewPr>
  </p:notesTextViewPr>
  <p:sorterViewPr>
    <p:cViewPr varScale="1">
      <p:scale>
        <a:sx n="100" d="100"/>
        <a:sy n="100" d="100"/>
      </p:scale>
      <p:origin x="0" y="-621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9A787-2230-4FF8-8817-159D6BD7B5AE}" type="datetimeFigureOut">
              <a:rPr lang="en-US" smtClean="0"/>
              <a:t>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8C940-6784-4F9D-A258-868AAE24D092}" type="slidenum">
              <a:rPr lang="en-US" smtClean="0"/>
              <a:t>‹#›</a:t>
            </a:fld>
            <a:endParaRPr lang="en-US"/>
          </a:p>
        </p:txBody>
      </p:sp>
    </p:spTree>
    <p:extLst>
      <p:ext uri="{BB962C8B-B14F-4D97-AF65-F5344CB8AC3E}">
        <p14:creationId xmlns:p14="http://schemas.microsoft.com/office/powerpoint/2010/main" val="338385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hyperlink" Target="mailto:Siva.Jasthi@metrostate.edu"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 name="TextBox 9">
            <a:extLst>
              <a:ext uri="{FF2B5EF4-FFF2-40B4-BE49-F238E27FC236}">
                <a16:creationId xmlns:a16="http://schemas.microsoft.com/office/drawing/2014/main" id="{E26F8C1F-669D-4F69-9022-AAB01B7F122A}"/>
              </a:ext>
            </a:extLst>
          </p:cNvPr>
          <p:cNvSpPr txBox="1"/>
          <p:nvPr userDrawn="1"/>
        </p:nvSpPr>
        <p:spPr>
          <a:xfrm>
            <a:off x="1" y="6560598"/>
            <a:ext cx="12191999"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hlinkClick r:id="rId2"/>
              </a:rPr>
              <a:t>Siva.Jasthi@metrostate.edu</a:t>
            </a:r>
            <a:r>
              <a:rPr lang="en-US" sz="1200" dirty="0"/>
              <a:t>                  ICS 352 – Machine Learning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AA70F276-1833-4A75-9C1D-A56E2295A68D}" type="datetimeFigureOut">
              <a:rPr lang="en-US" smtClean="0"/>
              <a:t>2/6/2026</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501589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Siva.Jasthi@metrostate.edu</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ICS 352 – Machine Learning </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817549-C8F9-8740-97B0-14CD78FB0450}" type="slidenum">
              <a: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v7labs.com/blog/train-validation-test-set"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hyperlink" Target="https://www.kdnuggets.com/2020/05/model-evaluation-metrics-machine-learning.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ataaspirant.com/cross-validat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researchgate.net/figure/k-fold-cross-validation-example_fig1_335074407"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section.io/engineering-education/how-to-implement-k-fold-cross-validatio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analyticsvidhya.com/blog/2021/05/importance-of-cross-validation-are-evaluation-metrics-enough/"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baeldung.com/cs/ml-stratified-sampling"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analyticsvidhya.com/blog/2021/05/importance-of-cross-validation-are-evaluation-metrics-enough/"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analyticsvidhya.com/blog/2021/05/importance-of-cross-validation-are-evaluation-metrics-enough/"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mygreatlearning.com/blog/cross-validation/" TargetMode="External"/><Relationship Id="rId2" Type="http://schemas.openxmlformats.org/officeDocument/2006/relationships/hyperlink" Target="https://tscv.readthedocs.io/en/latest/tutorial/roll_forward.html" TargetMode="Externa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fSytzGwwBVw"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39BF4AB0-9623-4F15-9723-5E7FE667B513}"/>
              </a:ext>
            </a:extLst>
          </p:cNvPr>
          <p:cNvSpPr>
            <a:spLocks noGrp="1"/>
          </p:cNvSpPr>
          <p:nvPr>
            <p:ph type="subTitle" idx="1"/>
          </p:nvPr>
        </p:nvSpPr>
        <p:spPr>
          <a:xfrm>
            <a:off x="2183685" y="4968672"/>
            <a:ext cx="7516166" cy="1356787"/>
          </a:xfrm>
        </p:spPr>
        <p:txBody>
          <a:bodyPr>
            <a:normAutofit/>
          </a:bodyPr>
          <a:lstStyle/>
          <a:p>
            <a:pPr>
              <a:buClrTx/>
              <a:buSzTx/>
              <a:buFontTx/>
              <a:buNone/>
            </a:pPr>
            <a:r>
              <a:rPr lang="en-US" altLang="en-US" sz="2400" b="1" dirty="0"/>
              <a:t>Siva R Jasthi</a:t>
            </a:r>
            <a:endParaRPr lang="en-US" altLang="en-US" sz="2400" dirty="0"/>
          </a:p>
          <a:p>
            <a:pPr>
              <a:buClrTx/>
              <a:buSzTx/>
              <a:buFontTx/>
              <a:buNone/>
            </a:pPr>
            <a:r>
              <a:rPr lang="en-US" altLang="en-US" sz="2400" dirty="0"/>
              <a:t>Computer Science and Cybersecurity</a:t>
            </a:r>
          </a:p>
          <a:p>
            <a:pPr>
              <a:buClrTx/>
              <a:buSzTx/>
              <a:buFontTx/>
              <a:buNone/>
            </a:pPr>
            <a:r>
              <a:rPr lang="en-US" altLang="en-US" sz="2400" dirty="0"/>
              <a:t>Metropolitan State University</a:t>
            </a:r>
          </a:p>
          <a:p>
            <a:endParaRPr lang="en-US" sz="2400" b="1" dirty="0">
              <a:solidFill>
                <a:srgbClr val="04B452"/>
              </a:solidFill>
            </a:endParaRPr>
          </a:p>
        </p:txBody>
      </p:sp>
      <p:sp>
        <p:nvSpPr>
          <p:cNvPr id="9" name="Subtitle 2">
            <a:extLst>
              <a:ext uri="{FF2B5EF4-FFF2-40B4-BE49-F238E27FC236}">
                <a16:creationId xmlns:a16="http://schemas.microsoft.com/office/drawing/2014/main" id="{F9471A7B-0F91-466C-9FCD-728090F5A931}"/>
              </a:ext>
            </a:extLst>
          </p:cNvPr>
          <p:cNvSpPr txBox="1">
            <a:spLocks/>
          </p:cNvSpPr>
          <p:nvPr/>
        </p:nvSpPr>
        <p:spPr>
          <a:xfrm>
            <a:off x="1774357" y="2837194"/>
            <a:ext cx="8334823" cy="1196560"/>
          </a:xfrm>
          <a:prstGeom prst="rect">
            <a:avLst/>
          </a:prstGeom>
          <a:solidFill>
            <a:srgbClr val="00B050"/>
          </a:solidFill>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2400" b="1" dirty="0">
              <a:solidFill>
                <a:schemeClr val="bg1"/>
              </a:solidFill>
            </a:endParaRPr>
          </a:p>
          <a:p>
            <a:r>
              <a:rPr lang="en-US" sz="2400" b="1" dirty="0">
                <a:solidFill>
                  <a:schemeClr val="bg1"/>
                </a:solidFill>
              </a:rPr>
              <a:t>K-Fold Cross Validation</a:t>
            </a:r>
          </a:p>
        </p:txBody>
      </p:sp>
      <p:graphicFrame>
        <p:nvGraphicFramePr>
          <p:cNvPr id="4" name="Table 5">
            <a:extLst>
              <a:ext uri="{FF2B5EF4-FFF2-40B4-BE49-F238E27FC236}">
                <a16:creationId xmlns:a16="http://schemas.microsoft.com/office/drawing/2014/main" id="{78989B7E-3B2D-44AE-8C5E-703EF42AD523}"/>
              </a:ext>
            </a:extLst>
          </p:cNvPr>
          <p:cNvGraphicFramePr>
            <a:graphicFrameLocks noGrp="1"/>
          </p:cNvGraphicFramePr>
          <p:nvPr>
            <p:extLst>
              <p:ext uri="{D42A27DB-BD31-4B8C-83A1-F6EECF244321}">
                <p14:modId xmlns:p14="http://schemas.microsoft.com/office/powerpoint/2010/main" val="2065261756"/>
              </p:ext>
            </p:extLst>
          </p:nvPr>
        </p:nvGraphicFramePr>
        <p:xfrm>
          <a:off x="2032000" y="719666"/>
          <a:ext cx="8128000" cy="1854200"/>
        </p:xfrm>
        <a:graphic>
          <a:graphicData uri="http://schemas.openxmlformats.org/drawingml/2006/table">
            <a:tbl>
              <a:tblPr firstRow="1" bandRow="1">
                <a:tableStyleId>{5940675A-B579-460E-94D1-54222C63F5DA}</a:tableStyleId>
              </a:tblPr>
              <a:tblGrid>
                <a:gridCol w="1784626">
                  <a:extLst>
                    <a:ext uri="{9D8B030D-6E8A-4147-A177-3AD203B41FA5}">
                      <a16:colId xmlns:a16="http://schemas.microsoft.com/office/drawing/2014/main" val="2221937530"/>
                    </a:ext>
                  </a:extLst>
                </a:gridCol>
                <a:gridCol w="6343374">
                  <a:extLst>
                    <a:ext uri="{9D8B030D-6E8A-4147-A177-3AD203B41FA5}">
                      <a16:colId xmlns:a16="http://schemas.microsoft.com/office/drawing/2014/main" val="379968204"/>
                    </a:ext>
                  </a:extLst>
                </a:gridCol>
              </a:tblGrid>
              <a:tr h="370840">
                <a:tc>
                  <a:txBody>
                    <a:bodyPr/>
                    <a:lstStyle/>
                    <a:p>
                      <a:r>
                        <a:rPr lang="en-US" dirty="0"/>
                        <a:t>Course</a:t>
                      </a:r>
                    </a:p>
                  </a:txBody>
                  <a:tcPr/>
                </a:tc>
                <a:tc>
                  <a:txBody>
                    <a:bodyPr/>
                    <a:lstStyle/>
                    <a:p>
                      <a:r>
                        <a:rPr lang="en-US" dirty="0"/>
                        <a:t>Python for Machine Learning</a:t>
                      </a:r>
                    </a:p>
                  </a:txBody>
                  <a:tcPr/>
                </a:tc>
                <a:extLst>
                  <a:ext uri="{0D108BD9-81ED-4DB2-BD59-A6C34878D82A}">
                    <a16:rowId xmlns:a16="http://schemas.microsoft.com/office/drawing/2014/main" val="2642101462"/>
                  </a:ext>
                </a:extLst>
              </a:tr>
              <a:tr h="370840">
                <a:tc>
                  <a:txBody>
                    <a:bodyPr/>
                    <a:lstStyle/>
                    <a:p>
                      <a:r>
                        <a:rPr lang="en-US" dirty="0"/>
                        <a:t>Term</a:t>
                      </a:r>
                    </a:p>
                  </a:txBody>
                  <a:tcPr/>
                </a:tc>
                <a:tc>
                  <a:txBody>
                    <a:bodyPr/>
                    <a:lstStyle/>
                    <a:p>
                      <a:endParaRPr lang="en-US" dirty="0"/>
                    </a:p>
                  </a:txBody>
                  <a:tcPr/>
                </a:tc>
                <a:extLst>
                  <a:ext uri="{0D108BD9-81ED-4DB2-BD59-A6C34878D82A}">
                    <a16:rowId xmlns:a16="http://schemas.microsoft.com/office/drawing/2014/main" val="176277694"/>
                  </a:ext>
                </a:extLst>
              </a:tr>
              <a:tr h="370840">
                <a:tc>
                  <a:txBody>
                    <a:bodyPr/>
                    <a:lstStyle/>
                    <a:p>
                      <a:r>
                        <a:rPr lang="en-US" dirty="0"/>
                        <a:t>Week</a:t>
                      </a:r>
                    </a:p>
                  </a:txBody>
                  <a:tcPr/>
                </a:tc>
                <a:tc>
                  <a:txBody>
                    <a:bodyPr/>
                    <a:lstStyle/>
                    <a:p>
                      <a:endParaRPr lang="en-US" dirty="0"/>
                    </a:p>
                  </a:txBody>
                  <a:tcPr/>
                </a:tc>
                <a:extLst>
                  <a:ext uri="{0D108BD9-81ED-4DB2-BD59-A6C34878D82A}">
                    <a16:rowId xmlns:a16="http://schemas.microsoft.com/office/drawing/2014/main" val="1975050456"/>
                  </a:ext>
                </a:extLst>
              </a:tr>
              <a:tr h="370840">
                <a:tc>
                  <a:txBody>
                    <a:bodyPr/>
                    <a:lstStyle/>
                    <a:p>
                      <a:r>
                        <a:rPr lang="en-US" dirty="0"/>
                        <a:t>Date</a:t>
                      </a:r>
                    </a:p>
                  </a:txBody>
                  <a:tcPr/>
                </a:tc>
                <a:tc>
                  <a:txBody>
                    <a:bodyPr/>
                    <a:lstStyle/>
                    <a:p>
                      <a:endParaRPr lang="en-US" dirty="0"/>
                    </a:p>
                  </a:txBody>
                  <a:tcPr/>
                </a:tc>
                <a:extLst>
                  <a:ext uri="{0D108BD9-81ED-4DB2-BD59-A6C34878D82A}">
                    <a16:rowId xmlns:a16="http://schemas.microsoft.com/office/drawing/2014/main" val="452127006"/>
                  </a:ext>
                </a:extLst>
              </a:tr>
              <a:tr h="370840">
                <a:tc>
                  <a:txBody>
                    <a:bodyPr/>
                    <a:lstStyle/>
                    <a:p>
                      <a:r>
                        <a:rPr lang="en-US" dirty="0"/>
                        <a:t>Chapter. Topic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K-Fold Cross Validation</a:t>
                      </a:r>
                    </a:p>
                  </a:txBody>
                  <a:tcPr/>
                </a:tc>
                <a:extLst>
                  <a:ext uri="{0D108BD9-81ED-4DB2-BD59-A6C34878D82A}">
                    <a16:rowId xmlns:a16="http://schemas.microsoft.com/office/drawing/2014/main" val="27038728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Machine Learning Process</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a:bodyPr>
          <a:lstStyle/>
          <a:p>
            <a:r>
              <a:rPr lang="en-US"/>
              <a:t>Data Collection and Preparation </a:t>
            </a:r>
          </a:p>
          <a:p>
            <a:r>
              <a:rPr lang="en-US"/>
              <a:t>Feature Selection  </a:t>
            </a:r>
          </a:p>
          <a:p>
            <a:r>
              <a:rPr lang="en-US"/>
              <a:t>Algorithm Choice  </a:t>
            </a:r>
          </a:p>
          <a:p>
            <a:r>
              <a:rPr lang="en-US"/>
              <a:t>Parameter and Model Selection</a:t>
            </a:r>
          </a:p>
          <a:p>
            <a:r>
              <a:rPr lang="en-US"/>
              <a:t>Training </a:t>
            </a:r>
          </a:p>
          <a:p>
            <a:r>
              <a:rPr lang="en-US"/>
              <a:t>Evaluation </a:t>
            </a:r>
            <a:endParaRPr lang="en-US" dirty="0"/>
          </a:p>
        </p:txBody>
      </p:sp>
      <p:sp>
        <p:nvSpPr>
          <p:cNvPr id="4" name="Slide Number Placeholder 3"/>
          <p:cNvSpPr>
            <a:spLocks noGrp="1"/>
          </p:cNvSpPr>
          <p:nvPr>
            <p:ph type="sldNum" sz="quarter" idx="12"/>
          </p:nvPr>
        </p:nvSpPr>
        <p:spPr/>
        <p:txBody>
          <a:bodyPr/>
          <a:lstStyle/>
          <a:p>
            <a:fld id="{7957FF81-3E34-4073-BF50-FE78B3EBEE2E}" type="slidenum">
              <a:rPr lang="en-US" smtClean="0"/>
              <a:t>2</a:t>
            </a:fld>
            <a:endParaRPr lang="en-US"/>
          </a:p>
        </p:txBody>
      </p:sp>
    </p:spTree>
    <p:extLst>
      <p:ext uri="{BB962C8B-B14F-4D97-AF65-F5344CB8AC3E}">
        <p14:creationId xmlns:p14="http://schemas.microsoft.com/office/powerpoint/2010/main" val="211312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Training vs Test vs Validation Sets</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3</a:t>
            </a:fld>
            <a:endParaRPr lang="en-US"/>
          </a:p>
        </p:txBody>
      </p:sp>
      <p:sp>
        <p:nvSpPr>
          <p:cNvPr id="5" name="Content Placeholder 2">
            <a:extLst>
              <a:ext uri="{FF2B5EF4-FFF2-40B4-BE49-F238E27FC236}">
                <a16:creationId xmlns:a16="http://schemas.microsoft.com/office/drawing/2014/main" id="{57E06FA9-952A-3CA4-DE3C-73FA012F9834}"/>
              </a:ext>
            </a:extLst>
          </p:cNvPr>
          <p:cNvSpPr txBox="1">
            <a:spLocks/>
          </p:cNvSpPr>
          <p:nvPr/>
        </p:nvSpPr>
        <p:spPr>
          <a:xfrm>
            <a:off x="75414" y="6309218"/>
            <a:ext cx="12041171" cy="52050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hlinkClick r:id="rId2"/>
              </a:rPr>
              <a:t>https://www.v7labs.com/blog/train-validation-test-set</a:t>
            </a:r>
            <a:r>
              <a:rPr lang="en-US" sz="1800"/>
              <a:t> </a:t>
            </a:r>
            <a:endParaRPr lang="en-US" sz="1800" dirty="0"/>
          </a:p>
        </p:txBody>
      </p:sp>
      <p:pic>
        <p:nvPicPr>
          <p:cNvPr id="1026" name="Picture 2" descr="Machine Learning data split">
            <a:extLst>
              <a:ext uri="{FF2B5EF4-FFF2-40B4-BE49-F238E27FC236}">
                <a16:creationId xmlns:a16="http://schemas.microsoft.com/office/drawing/2014/main" id="{138FBDA7-7765-E47B-9B37-CA7B3CFE99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094" b="15601"/>
          <a:stretch/>
        </p:blipFill>
        <p:spPr bwMode="auto">
          <a:xfrm>
            <a:off x="6416511" y="1536911"/>
            <a:ext cx="5165889" cy="22628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656A2A2-4FA5-FE1E-B609-63DEDBAF28A9}"/>
              </a:ext>
            </a:extLst>
          </p:cNvPr>
          <p:cNvPicPr>
            <a:picLocks noChangeAspect="1"/>
          </p:cNvPicPr>
          <p:nvPr/>
        </p:nvPicPr>
        <p:blipFill>
          <a:blip r:embed="rId4"/>
          <a:stretch>
            <a:fillRect/>
          </a:stretch>
        </p:blipFill>
        <p:spPr>
          <a:xfrm>
            <a:off x="488584" y="893215"/>
            <a:ext cx="5607416" cy="3324081"/>
          </a:xfrm>
          <a:prstGeom prst="rect">
            <a:avLst/>
          </a:prstGeom>
        </p:spPr>
      </p:pic>
      <p:sp>
        <p:nvSpPr>
          <p:cNvPr id="9" name="TextBox 8">
            <a:extLst>
              <a:ext uri="{FF2B5EF4-FFF2-40B4-BE49-F238E27FC236}">
                <a16:creationId xmlns:a16="http://schemas.microsoft.com/office/drawing/2014/main" id="{BF17F238-83E9-E7DD-6627-EA763A0CFB55}"/>
              </a:ext>
            </a:extLst>
          </p:cNvPr>
          <p:cNvSpPr txBox="1"/>
          <p:nvPr/>
        </p:nvSpPr>
        <p:spPr>
          <a:xfrm>
            <a:off x="414779" y="4623726"/>
            <a:ext cx="8970341" cy="1200329"/>
          </a:xfrm>
          <a:prstGeom prst="rect">
            <a:avLst/>
          </a:prstGeom>
          <a:noFill/>
        </p:spPr>
        <p:txBody>
          <a:bodyPr wrap="none" rtlCol="0">
            <a:spAutoFit/>
          </a:bodyPr>
          <a:lstStyle/>
          <a:p>
            <a:pPr marL="285750" indent="-285750">
              <a:buFont typeface="Arial" panose="020B0604020202020204" pitchFamily="34" charset="0"/>
              <a:buChar char="•"/>
            </a:pPr>
            <a:r>
              <a:rPr lang="en-US" sz="2400"/>
              <a:t>Train the model using “training set”</a:t>
            </a:r>
          </a:p>
          <a:p>
            <a:pPr marL="285750" indent="-285750">
              <a:buFont typeface="Arial" panose="020B0604020202020204" pitchFamily="34" charset="0"/>
              <a:buChar char="•"/>
            </a:pPr>
            <a:r>
              <a:rPr lang="en-US" sz="2400"/>
              <a:t>Evaluate the model on “validation set”. Tweak the model as needed.</a:t>
            </a:r>
          </a:p>
          <a:p>
            <a:pPr marL="285750" indent="-285750">
              <a:buFont typeface="Arial" panose="020B0604020202020204" pitchFamily="34" charset="0"/>
              <a:buChar char="•"/>
            </a:pPr>
            <a:r>
              <a:rPr lang="en-US" sz="2400"/>
              <a:t>Finally, test your model with “Test set”</a:t>
            </a:r>
          </a:p>
        </p:txBody>
      </p:sp>
    </p:spTree>
    <p:extLst>
      <p:ext uri="{BB962C8B-B14F-4D97-AF65-F5344CB8AC3E}">
        <p14:creationId xmlns:p14="http://schemas.microsoft.com/office/powerpoint/2010/main" val="1769452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Model Performance Assessment</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4</a:t>
            </a:fld>
            <a:endParaRPr lang="en-US"/>
          </a:p>
        </p:txBody>
      </p:sp>
      <p:sp>
        <p:nvSpPr>
          <p:cNvPr id="5" name="Content Placeholder 2">
            <a:extLst>
              <a:ext uri="{FF2B5EF4-FFF2-40B4-BE49-F238E27FC236}">
                <a16:creationId xmlns:a16="http://schemas.microsoft.com/office/drawing/2014/main" id="{57E06FA9-952A-3CA4-DE3C-73FA012F9834}"/>
              </a:ext>
            </a:extLst>
          </p:cNvPr>
          <p:cNvSpPr txBox="1">
            <a:spLocks/>
          </p:cNvSpPr>
          <p:nvPr/>
        </p:nvSpPr>
        <p:spPr>
          <a:xfrm>
            <a:off x="75414" y="6309218"/>
            <a:ext cx="12041171" cy="52050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hlinkClick r:id="rId2"/>
              </a:rPr>
              <a:t>https://www.kdnuggets.com/2020/05/model-evaluation-metrics-machine-learning.html</a:t>
            </a:r>
            <a:r>
              <a:rPr lang="en-US" sz="1800"/>
              <a:t> </a:t>
            </a:r>
            <a:endParaRPr lang="en-US" sz="1800" dirty="0"/>
          </a:p>
        </p:txBody>
      </p:sp>
      <p:sp>
        <p:nvSpPr>
          <p:cNvPr id="12" name="TextBox 11">
            <a:extLst>
              <a:ext uri="{FF2B5EF4-FFF2-40B4-BE49-F238E27FC236}">
                <a16:creationId xmlns:a16="http://schemas.microsoft.com/office/drawing/2014/main" id="{16843318-CFB4-1DE6-9D8E-EEFE8C6A87F5}"/>
              </a:ext>
            </a:extLst>
          </p:cNvPr>
          <p:cNvSpPr txBox="1"/>
          <p:nvPr/>
        </p:nvSpPr>
        <p:spPr>
          <a:xfrm>
            <a:off x="348791" y="1291468"/>
            <a:ext cx="4477733" cy="4154984"/>
          </a:xfrm>
          <a:prstGeom prst="rect">
            <a:avLst/>
          </a:prstGeom>
          <a:noFill/>
        </p:spPr>
        <p:txBody>
          <a:bodyPr wrap="square">
            <a:spAutoFit/>
          </a:bodyPr>
          <a:lstStyle/>
          <a:p>
            <a:r>
              <a:rPr lang="en-US" sz="2400" b="0" i="0">
                <a:effectLst/>
                <a:latin typeface="+mj-lt"/>
              </a:rPr>
              <a:t>Model evaluation is the process of assessing the performance of a machine learning model on a given dataset. </a:t>
            </a:r>
          </a:p>
          <a:p>
            <a:endParaRPr lang="en-US" sz="2400">
              <a:latin typeface="+mj-lt"/>
            </a:endParaRPr>
          </a:p>
          <a:p>
            <a:r>
              <a:rPr lang="en-US" sz="2400" b="0" i="0">
                <a:effectLst/>
                <a:latin typeface="+mj-lt"/>
              </a:rPr>
              <a:t>Depending on the type of problem (classification, regression, clustering) and the model (Linear Regression, Market Basket Analysis,etc. ), various metrics/measures come into play.</a:t>
            </a:r>
            <a:endParaRPr lang="en-US" sz="2400">
              <a:latin typeface="+mj-lt"/>
            </a:endParaRPr>
          </a:p>
        </p:txBody>
      </p:sp>
      <p:sp>
        <p:nvSpPr>
          <p:cNvPr id="3" name="TextBox 2">
            <a:extLst>
              <a:ext uri="{FF2B5EF4-FFF2-40B4-BE49-F238E27FC236}">
                <a16:creationId xmlns:a16="http://schemas.microsoft.com/office/drawing/2014/main" id="{7085CD56-7DC8-02F9-DA4C-EEF886EB31E1}"/>
              </a:ext>
            </a:extLst>
          </p:cNvPr>
          <p:cNvSpPr txBox="1"/>
          <p:nvPr/>
        </p:nvSpPr>
        <p:spPr>
          <a:xfrm>
            <a:off x="6289249" y="1170491"/>
            <a:ext cx="4477733" cy="4801314"/>
          </a:xfrm>
          <a:prstGeom prst="rect">
            <a:avLst/>
          </a:prstGeom>
          <a:noFill/>
        </p:spPr>
        <p:txBody>
          <a:bodyPr wrap="square">
            <a:spAutoFit/>
          </a:bodyPr>
          <a:lstStyle/>
          <a:p>
            <a:r>
              <a:rPr lang="en-US" b="0" i="0" dirty="0">
                <a:effectLst/>
                <a:latin typeface="+mj-lt"/>
              </a:rPr>
              <a:t>Some examples of metrics are:</a:t>
            </a:r>
          </a:p>
          <a:p>
            <a:pPr marL="457200" indent="-457200">
              <a:buFont typeface="+mj-lt"/>
              <a:buAutoNum type="arabicPeriod"/>
            </a:pPr>
            <a:r>
              <a:rPr lang="en-US" b="0" i="0" dirty="0">
                <a:effectLst/>
                <a:latin typeface="+mj-lt"/>
              </a:rPr>
              <a:t>Accuracy</a:t>
            </a:r>
          </a:p>
          <a:p>
            <a:pPr marL="457200" indent="-457200">
              <a:buFont typeface="+mj-lt"/>
              <a:buAutoNum type="arabicPeriod"/>
            </a:pPr>
            <a:r>
              <a:rPr lang="en-US" dirty="0">
                <a:latin typeface="+mj-lt"/>
              </a:rPr>
              <a:t>Precision</a:t>
            </a:r>
          </a:p>
          <a:p>
            <a:pPr marL="457200" indent="-457200">
              <a:buFont typeface="+mj-lt"/>
              <a:buAutoNum type="arabicPeriod"/>
            </a:pPr>
            <a:r>
              <a:rPr lang="en-US" dirty="0">
                <a:latin typeface="+mj-lt"/>
              </a:rPr>
              <a:t>Recall or Sensitivity</a:t>
            </a:r>
          </a:p>
          <a:p>
            <a:pPr marL="457200" indent="-457200">
              <a:buFont typeface="+mj-lt"/>
              <a:buAutoNum type="arabicPeriod"/>
            </a:pPr>
            <a:r>
              <a:rPr lang="en-US" dirty="0">
                <a:latin typeface="+mj-lt"/>
              </a:rPr>
              <a:t>Specificity</a:t>
            </a:r>
          </a:p>
          <a:p>
            <a:pPr marL="457200" indent="-457200">
              <a:buFont typeface="+mj-lt"/>
              <a:buAutoNum type="arabicPeriod"/>
            </a:pPr>
            <a:r>
              <a:rPr lang="en-US" dirty="0">
                <a:latin typeface="+mj-lt"/>
              </a:rPr>
              <a:t>F1 Score</a:t>
            </a:r>
          </a:p>
          <a:p>
            <a:pPr marL="457200" indent="-457200">
              <a:buFont typeface="+mj-lt"/>
              <a:buAutoNum type="arabicPeriod"/>
            </a:pPr>
            <a:r>
              <a:rPr lang="en-US" dirty="0">
                <a:latin typeface="+mj-lt"/>
              </a:rPr>
              <a:t>AUC-ROC Curve</a:t>
            </a:r>
          </a:p>
          <a:p>
            <a:pPr marL="457200" indent="-457200">
              <a:buFont typeface="+mj-lt"/>
              <a:buAutoNum type="arabicPeriod"/>
            </a:pPr>
            <a:r>
              <a:rPr lang="en-US" dirty="0">
                <a:latin typeface="+mj-lt"/>
              </a:rPr>
              <a:t>Confusion matrix</a:t>
            </a:r>
          </a:p>
          <a:p>
            <a:pPr marL="457200" indent="-457200">
              <a:buFont typeface="+mj-lt"/>
              <a:buAutoNum type="arabicPeriod"/>
            </a:pPr>
            <a:r>
              <a:rPr lang="en-US" dirty="0">
                <a:latin typeface="+mj-lt"/>
              </a:rPr>
              <a:t>Mean Squared Error (MSR)</a:t>
            </a:r>
          </a:p>
          <a:p>
            <a:pPr marL="457200" indent="-457200">
              <a:buFont typeface="+mj-lt"/>
              <a:buAutoNum type="arabicPeriod"/>
            </a:pPr>
            <a:r>
              <a:rPr lang="en-US" dirty="0">
                <a:latin typeface="+mj-lt"/>
              </a:rPr>
              <a:t>Mean absolute error (MAE)</a:t>
            </a:r>
          </a:p>
          <a:p>
            <a:pPr marL="457200" indent="-457200">
              <a:buFont typeface="+mj-lt"/>
              <a:buAutoNum type="arabicPeriod"/>
            </a:pPr>
            <a:r>
              <a:rPr lang="en-US" dirty="0">
                <a:latin typeface="+mj-lt"/>
              </a:rPr>
              <a:t>R-</a:t>
            </a:r>
            <a:r>
              <a:rPr lang="en-US" dirty="0" err="1">
                <a:latin typeface="+mj-lt"/>
              </a:rPr>
              <a:t>SQuared</a:t>
            </a:r>
            <a:r>
              <a:rPr lang="en-US" dirty="0">
                <a:latin typeface="+mj-lt"/>
              </a:rPr>
              <a:t> (R2)</a:t>
            </a:r>
          </a:p>
          <a:p>
            <a:pPr marL="457200" indent="-457200">
              <a:buFont typeface="+mj-lt"/>
              <a:buAutoNum type="arabicPeriod"/>
            </a:pPr>
            <a:r>
              <a:rPr lang="en-US" dirty="0">
                <a:latin typeface="+mj-lt"/>
              </a:rPr>
              <a:t>Log Loss</a:t>
            </a:r>
          </a:p>
          <a:p>
            <a:pPr marL="457200" indent="-457200">
              <a:buFont typeface="+mj-lt"/>
              <a:buAutoNum type="arabicPeriod"/>
            </a:pPr>
            <a:r>
              <a:rPr lang="en-US" dirty="0">
                <a:latin typeface="+mj-lt"/>
              </a:rPr>
              <a:t>Jaccard Index</a:t>
            </a:r>
          </a:p>
          <a:p>
            <a:pPr marL="457200" indent="-457200">
              <a:buFont typeface="+mj-lt"/>
              <a:buAutoNum type="arabicPeriod"/>
            </a:pPr>
            <a:r>
              <a:rPr lang="en-US" dirty="0" err="1">
                <a:latin typeface="+mj-lt"/>
              </a:rPr>
              <a:t>Kolomogorov</a:t>
            </a:r>
            <a:r>
              <a:rPr lang="en-US" dirty="0">
                <a:latin typeface="+mj-lt"/>
              </a:rPr>
              <a:t> Smirnov Chart</a:t>
            </a:r>
          </a:p>
          <a:p>
            <a:pPr marL="457200" indent="-457200">
              <a:buFont typeface="+mj-lt"/>
              <a:buAutoNum type="arabicPeriod"/>
            </a:pPr>
            <a:r>
              <a:rPr lang="en-US" dirty="0">
                <a:latin typeface="+mj-lt"/>
              </a:rPr>
              <a:t>Gain and Lift Charts</a:t>
            </a:r>
          </a:p>
          <a:p>
            <a:pPr marL="457200" indent="-457200">
              <a:buFont typeface="+mj-lt"/>
              <a:buAutoNum type="arabicPeriod"/>
            </a:pPr>
            <a:r>
              <a:rPr lang="en-US" dirty="0">
                <a:latin typeface="+mj-lt"/>
              </a:rPr>
              <a:t>Gini Coefficient</a:t>
            </a:r>
          </a:p>
          <a:p>
            <a:r>
              <a:rPr lang="en-US" dirty="0">
                <a:latin typeface="+mj-lt"/>
              </a:rPr>
              <a:t>And many more…</a:t>
            </a:r>
          </a:p>
        </p:txBody>
      </p:sp>
    </p:spTree>
    <p:extLst>
      <p:ext uri="{BB962C8B-B14F-4D97-AF65-F5344CB8AC3E}">
        <p14:creationId xmlns:p14="http://schemas.microsoft.com/office/powerpoint/2010/main" val="652066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dirty="0">
                <a:solidFill>
                  <a:srgbClr val="04B452"/>
                </a:solidFill>
              </a:rPr>
              <a:t>Model Performance Assessment: Examples #1</a:t>
            </a:r>
          </a:p>
        </p:txBody>
      </p:sp>
      <p:sp>
        <p:nvSpPr>
          <p:cNvPr id="4" name="Slide Number Placeholder 3"/>
          <p:cNvSpPr>
            <a:spLocks noGrp="1"/>
          </p:cNvSpPr>
          <p:nvPr>
            <p:ph type="sldNum" sz="quarter" idx="12"/>
          </p:nvPr>
        </p:nvSpPr>
        <p:spPr/>
        <p:txBody>
          <a:bodyPr/>
          <a:lstStyle/>
          <a:p>
            <a:fld id="{7957FF81-3E34-4073-BF50-FE78B3EBEE2E}" type="slidenum">
              <a:rPr lang="en-US" smtClean="0"/>
              <a:t>5</a:t>
            </a:fld>
            <a:endParaRPr lang="en-US"/>
          </a:p>
        </p:txBody>
      </p:sp>
      <p:sp>
        <p:nvSpPr>
          <p:cNvPr id="12" name="TextBox 11">
            <a:extLst>
              <a:ext uri="{FF2B5EF4-FFF2-40B4-BE49-F238E27FC236}">
                <a16:creationId xmlns:a16="http://schemas.microsoft.com/office/drawing/2014/main" id="{16843318-CFB4-1DE6-9D8E-EEFE8C6A87F5}"/>
              </a:ext>
            </a:extLst>
          </p:cNvPr>
          <p:cNvSpPr txBox="1"/>
          <p:nvPr/>
        </p:nvSpPr>
        <p:spPr>
          <a:xfrm>
            <a:off x="160254" y="888710"/>
            <a:ext cx="11689367" cy="6001643"/>
          </a:xfrm>
          <a:prstGeom prst="rect">
            <a:avLst/>
          </a:prstGeom>
          <a:noFill/>
        </p:spPr>
        <p:txBody>
          <a:bodyPr wrap="square">
            <a:spAutoFit/>
          </a:bodyPr>
          <a:lstStyle/>
          <a:p>
            <a:r>
              <a:rPr lang="en-US" sz="2400" b="0" i="0" dirty="0">
                <a:effectLst/>
                <a:latin typeface="+mj-lt"/>
              </a:rPr>
              <a:t>Accuracy: The percentage of correctly classified instances out of all the instances in the dataset.</a:t>
            </a:r>
          </a:p>
          <a:p>
            <a:endParaRPr lang="en-US" sz="2400" b="0" i="0" dirty="0">
              <a:effectLst/>
              <a:latin typeface="+mj-lt"/>
            </a:endParaRPr>
          </a:p>
          <a:p>
            <a:r>
              <a:rPr lang="en-US" sz="2400" b="0" i="0" dirty="0">
                <a:effectLst/>
                <a:latin typeface="+mj-lt"/>
              </a:rPr>
              <a:t>Precision: The ratio of true positives (correctly predicted positive instances) to the total number of predicted positive instances.</a:t>
            </a:r>
          </a:p>
          <a:p>
            <a:endParaRPr lang="en-US" sz="2400" b="0" i="0" dirty="0">
              <a:effectLst/>
              <a:latin typeface="+mj-lt"/>
            </a:endParaRPr>
          </a:p>
          <a:p>
            <a:r>
              <a:rPr lang="en-US" sz="2400" b="0" i="0" dirty="0">
                <a:effectLst/>
                <a:latin typeface="+mj-lt"/>
              </a:rPr>
              <a:t>Recall: The ratio of true positives to the total number of actual positive instances.</a:t>
            </a:r>
          </a:p>
          <a:p>
            <a:endParaRPr lang="en-US" sz="2400" b="0" i="0" dirty="0">
              <a:effectLst/>
              <a:latin typeface="+mj-lt"/>
            </a:endParaRPr>
          </a:p>
          <a:p>
            <a:r>
              <a:rPr lang="en-US" sz="2400" b="0" i="0" dirty="0">
                <a:effectLst/>
                <a:latin typeface="+mj-lt"/>
              </a:rPr>
              <a:t>F1 score: The harmonic mean of precision and recall, which provides a balance between the two metrics.</a:t>
            </a:r>
          </a:p>
          <a:p>
            <a:endParaRPr lang="en-US" sz="2400" b="0" i="0" dirty="0">
              <a:effectLst/>
              <a:latin typeface="+mj-lt"/>
            </a:endParaRPr>
          </a:p>
          <a:p>
            <a:r>
              <a:rPr lang="en-US" sz="2400" b="0" i="0" dirty="0">
                <a:effectLst/>
                <a:latin typeface="+mj-lt"/>
              </a:rPr>
              <a:t>AUC-ROC curve: The area under the receiver operating characteristic (ROC) curve, which is a plot of true positive rate against false positive rate for different threshold values.</a:t>
            </a:r>
          </a:p>
          <a:p>
            <a:endParaRPr lang="en-US" sz="2400" b="0" i="0" dirty="0">
              <a:effectLst/>
              <a:latin typeface="+mj-lt"/>
            </a:endParaRPr>
          </a:p>
          <a:p>
            <a:r>
              <a:rPr lang="en-US" sz="2400" b="0" i="0" dirty="0">
                <a:effectLst/>
                <a:latin typeface="+mj-lt"/>
              </a:rPr>
              <a:t>Confusion matrix: A matrix that shows the number of true positives, true negatives, false positives, and false negatives in a binary classification problem. classification problem.</a:t>
            </a:r>
            <a:endParaRPr lang="en-US" sz="2400" dirty="0">
              <a:latin typeface="+mj-lt"/>
            </a:endParaRPr>
          </a:p>
        </p:txBody>
      </p:sp>
    </p:spTree>
    <p:extLst>
      <p:ext uri="{BB962C8B-B14F-4D97-AF65-F5344CB8AC3E}">
        <p14:creationId xmlns:p14="http://schemas.microsoft.com/office/powerpoint/2010/main" val="332190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dirty="0">
                <a:solidFill>
                  <a:srgbClr val="04B452"/>
                </a:solidFill>
              </a:rPr>
              <a:t>Model Performance Assessment: Examples #2</a:t>
            </a:r>
          </a:p>
        </p:txBody>
      </p:sp>
      <p:sp>
        <p:nvSpPr>
          <p:cNvPr id="4" name="Slide Number Placeholder 3"/>
          <p:cNvSpPr>
            <a:spLocks noGrp="1"/>
          </p:cNvSpPr>
          <p:nvPr>
            <p:ph type="sldNum" sz="quarter" idx="12"/>
          </p:nvPr>
        </p:nvSpPr>
        <p:spPr/>
        <p:txBody>
          <a:bodyPr/>
          <a:lstStyle/>
          <a:p>
            <a:fld id="{7957FF81-3E34-4073-BF50-FE78B3EBEE2E}" type="slidenum">
              <a:rPr lang="en-US" smtClean="0"/>
              <a:t>6</a:t>
            </a:fld>
            <a:endParaRPr lang="en-US"/>
          </a:p>
        </p:txBody>
      </p:sp>
      <p:sp>
        <p:nvSpPr>
          <p:cNvPr id="12" name="TextBox 11">
            <a:extLst>
              <a:ext uri="{FF2B5EF4-FFF2-40B4-BE49-F238E27FC236}">
                <a16:creationId xmlns:a16="http://schemas.microsoft.com/office/drawing/2014/main" id="{16843318-CFB4-1DE6-9D8E-EEFE8C6A87F5}"/>
              </a:ext>
            </a:extLst>
          </p:cNvPr>
          <p:cNvSpPr txBox="1"/>
          <p:nvPr/>
        </p:nvSpPr>
        <p:spPr>
          <a:xfrm>
            <a:off x="160254" y="888710"/>
            <a:ext cx="11689367" cy="5262979"/>
          </a:xfrm>
          <a:prstGeom prst="rect">
            <a:avLst/>
          </a:prstGeom>
          <a:noFill/>
        </p:spPr>
        <p:txBody>
          <a:bodyPr wrap="square">
            <a:spAutoFit/>
          </a:bodyPr>
          <a:lstStyle/>
          <a:p>
            <a:r>
              <a:rPr lang="en-US" sz="2400" b="0" i="0" dirty="0">
                <a:effectLst/>
                <a:latin typeface="+mj-lt"/>
              </a:rPr>
              <a:t>Mean squared error (MSE): A measure of the average squared difference between the predicted and actual values in a regression problem.</a:t>
            </a:r>
          </a:p>
          <a:p>
            <a:endParaRPr lang="en-US" sz="2400" b="0" i="0" dirty="0">
              <a:effectLst/>
              <a:latin typeface="+mj-lt"/>
            </a:endParaRPr>
          </a:p>
          <a:p>
            <a:r>
              <a:rPr lang="en-US" sz="2400" b="0" i="0" dirty="0">
                <a:effectLst/>
                <a:latin typeface="+mj-lt"/>
              </a:rPr>
              <a:t>Mean absolute error (MAE): A measure of the average absolute difference between the predicted and actual values in a regression problem.</a:t>
            </a:r>
          </a:p>
          <a:p>
            <a:endParaRPr lang="en-US" sz="2400" b="0" i="0" dirty="0">
              <a:effectLst/>
              <a:latin typeface="+mj-lt"/>
            </a:endParaRPr>
          </a:p>
          <a:p>
            <a:r>
              <a:rPr lang="en-US" sz="2400" b="0" i="0" dirty="0">
                <a:effectLst/>
                <a:latin typeface="+mj-lt"/>
              </a:rPr>
              <a:t>R-squared (R2): A metric that measures how well the model fits the data by comparing the variance of the predicted values to the variance of the actual values.</a:t>
            </a:r>
          </a:p>
          <a:p>
            <a:endParaRPr lang="en-US" sz="2400" b="0" i="0" dirty="0">
              <a:effectLst/>
              <a:latin typeface="+mj-lt"/>
            </a:endParaRPr>
          </a:p>
          <a:p>
            <a:r>
              <a:rPr lang="en-US" sz="2400" b="0" i="0" dirty="0">
                <a:effectLst/>
                <a:latin typeface="+mj-lt"/>
              </a:rPr>
              <a:t>Log loss: A metric that measures the performance of a classifier where the predicted output is a probability value between 0 and 1.</a:t>
            </a:r>
          </a:p>
          <a:p>
            <a:endParaRPr lang="en-US" sz="2400" b="0" i="0" dirty="0">
              <a:effectLst/>
              <a:latin typeface="+mj-lt"/>
            </a:endParaRPr>
          </a:p>
          <a:p>
            <a:r>
              <a:rPr lang="en-US" sz="2400" b="0" i="0" dirty="0">
                <a:effectLst/>
                <a:latin typeface="+mj-lt"/>
              </a:rPr>
              <a:t>Mean absolute percentage error (MAPE): A measure of the average absolute percentage difference between the predicted and actual values in a regression problem.</a:t>
            </a:r>
          </a:p>
        </p:txBody>
      </p:sp>
    </p:spTree>
    <p:extLst>
      <p:ext uri="{BB962C8B-B14F-4D97-AF65-F5344CB8AC3E}">
        <p14:creationId xmlns:p14="http://schemas.microsoft.com/office/powerpoint/2010/main" val="3291144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dirty="0">
                <a:solidFill>
                  <a:srgbClr val="04B452"/>
                </a:solidFill>
              </a:rPr>
              <a:t>Model Performance Assessment: Examples #3</a:t>
            </a:r>
          </a:p>
        </p:txBody>
      </p:sp>
      <p:sp>
        <p:nvSpPr>
          <p:cNvPr id="4" name="Slide Number Placeholder 3"/>
          <p:cNvSpPr>
            <a:spLocks noGrp="1"/>
          </p:cNvSpPr>
          <p:nvPr>
            <p:ph type="sldNum" sz="quarter" idx="12"/>
          </p:nvPr>
        </p:nvSpPr>
        <p:spPr/>
        <p:txBody>
          <a:bodyPr/>
          <a:lstStyle/>
          <a:p>
            <a:fld id="{7957FF81-3E34-4073-BF50-FE78B3EBEE2E}" type="slidenum">
              <a:rPr lang="en-US" smtClean="0"/>
              <a:t>7</a:t>
            </a:fld>
            <a:endParaRPr lang="en-US"/>
          </a:p>
        </p:txBody>
      </p:sp>
      <p:sp>
        <p:nvSpPr>
          <p:cNvPr id="12" name="TextBox 11">
            <a:extLst>
              <a:ext uri="{FF2B5EF4-FFF2-40B4-BE49-F238E27FC236}">
                <a16:creationId xmlns:a16="http://schemas.microsoft.com/office/drawing/2014/main" id="{16843318-CFB4-1DE6-9D8E-EEFE8C6A87F5}"/>
              </a:ext>
            </a:extLst>
          </p:cNvPr>
          <p:cNvSpPr txBox="1"/>
          <p:nvPr/>
        </p:nvSpPr>
        <p:spPr>
          <a:xfrm>
            <a:off x="160254" y="888710"/>
            <a:ext cx="11689367" cy="3416320"/>
          </a:xfrm>
          <a:prstGeom prst="rect">
            <a:avLst/>
          </a:prstGeom>
          <a:noFill/>
        </p:spPr>
        <p:txBody>
          <a:bodyPr wrap="square">
            <a:spAutoFit/>
          </a:bodyPr>
          <a:lstStyle/>
          <a:p>
            <a:endParaRPr lang="en-US" sz="2400" b="0" i="0" dirty="0">
              <a:effectLst/>
              <a:latin typeface="+mj-lt"/>
            </a:endParaRPr>
          </a:p>
          <a:p>
            <a:r>
              <a:rPr lang="en-US" sz="2400" b="0" i="0" dirty="0">
                <a:effectLst/>
                <a:latin typeface="+mj-lt"/>
              </a:rPr>
              <a:t>Root mean squared error (RMSE): A measure of the average squared difference between the predicted and actual values in a regression problem, with the square root taken.</a:t>
            </a:r>
          </a:p>
          <a:p>
            <a:endParaRPr lang="en-US" sz="2400" b="0" i="0" dirty="0">
              <a:effectLst/>
              <a:latin typeface="+mj-lt"/>
            </a:endParaRPr>
          </a:p>
          <a:p>
            <a:r>
              <a:rPr lang="en-US" sz="2400" b="0" i="0" dirty="0">
                <a:effectLst/>
                <a:latin typeface="+mj-lt"/>
              </a:rPr>
              <a:t>Cohen's Kappa: A metric that measures the agreement between two raters or classifiers. It is commonly used in text classification problems.</a:t>
            </a:r>
          </a:p>
          <a:p>
            <a:endParaRPr lang="en-US" sz="2400" b="0" i="0" dirty="0">
              <a:effectLst/>
              <a:latin typeface="+mj-lt"/>
            </a:endParaRPr>
          </a:p>
          <a:p>
            <a:r>
              <a:rPr lang="en-US" sz="2400" b="0" i="0" dirty="0">
                <a:effectLst/>
                <a:latin typeface="+mj-lt"/>
              </a:rPr>
              <a:t>Area under the precision-recall curve (AUC-PR): A metric that measures the trade-off between precision and recall for different threshold values in a binary classification problem.</a:t>
            </a:r>
            <a:endParaRPr lang="en-US" sz="2400" dirty="0">
              <a:latin typeface="+mj-lt"/>
            </a:endParaRPr>
          </a:p>
        </p:txBody>
      </p:sp>
    </p:spTree>
    <p:extLst>
      <p:ext uri="{BB962C8B-B14F-4D97-AF65-F5344CB8AC3E}">
        <p14:creationId xmlns:p14="http://schemas.microsoft.com/office/powerpoint/2010/main" val="617931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dirty="0">
                <a:solidFill>
                  <a:srgbClr val="04B452"/>
                </a:solidFill>
              </a:rPr>
              <a:t>Model Performance Assessment: Examples #4</a:t>
            </a:r>
          </a:p>
        </p:txBody>
      </p:sp>
      <p:sp>
        <p:nvSpPr>
          <p:cNvPr id="4" name="Slide Number Placeholder 3"/>
          <p:cNvSpPr>
            <a:spLocks noGrp="1"/>
          </p:cNvSpPr>
          <p:nvPr>
            <p:ph type="sldNum" sz="quarter" idx="12"/>
          </p:nvPr>
        </p:nvSpPr>
        <p:spPr/>
        <p:txBody>
          <a:bodyPr/>
          <a:lstStyle/>
          <a:p>
            <a:fld id="{7957FF81-3E34-4073-BF50-FE78B3EBEE2E}" type="slidenum">
              <a:rPr lang="en-US" smtClean="0"/>
              <a:t>8</a:t>
            </a:fld>
            <a:endParaRPr lang="en-US"/>
          </a:p>
        </p:txBody>
      </p:sp>
      <p:sp>
        <p:nvSpPr>
          <p:cNvPr id="7" name="TextBox 6">
            <a:extLst>
              <a:ext uri="{FF2B5EF4-FFF2-40B4-BE49-F238E27FC236}">
                <a16:creationId xmlns:a16="http://schemas.microsoft.com/office/drawing/2014/main" id="{5E39216A-6C4F-2A3B-1F19-3C09B4720E89}"/>
              </a:ext>
            </a:extLst>
          </p:cNvPr>
          <p:cNvSpPr txBox="1"/>
          <p:nvPr/>
        </p:nvSpPr>
        <p:spPr>
          <a:xfrm>
            <a:off x="100208" y="603114"/>
            <a:ext cx="11931537" cy="5632311"/>
          </a:xfrm>
          <a:prstGeom prst="rect">
            <a:avLst/>
          </a:prstGeom>
          <a:noFill/>
        </p:spPr>
        <p:txBody>
          <a:bodyPr wrap="square">
            <a:spAutoFit/>
          </a:bodyPr>
          <a:lstStyle/>
          <a:p>
            <a:r>
              <a:rPr lang="en-US" sz="2400" b="0" i="0" dirty="0">
                <a:effectLst/>
                <a:latin typeface="+mj-lt"/>
              </a:rPr>
              <a:t>Mean per class accuracy: A metric that calculates the average accuracy for each class in a multi-class classification problem.</a:t>
            </a:r>
          </a:p>
          <a:p>
            <a:endParaRPr lang="en-US" sz="2400" b="0" i="0" dirty="0">
              <a:effectLst/>
              <a:latin typeface="+mj-lt"/>
            </a:endParaRPr>
          </a:p>
          <a:p>
            <a:r>
              <a:rPr lang="en-US" sz="2400" b="0" i="0" dirty="0">
                <a:effectLst/>
                <a:latin typeface="+mj-lt"/>
              </a:rPr>
              <a:t>Matthew's correlation coefficient (MCC): A metric that measures the correlation between the predicted and actual values in a binary classification problem.</a:t>
            </a:r>
          </a:p>
          <a:p>
            <a:endParaRPr lang="en-US" sz="2400" b="0" i="0" dirty="0">
              <a:effectLst/>
              <a:latin typeface="+mj-lt"/>
            </a:endParaRPr>
          </a:p>
          <a:p>
            <a:r>
              <a:rPr lang="en-US" sz="2400" b="0" i="0" dirty="0">
                <a:effectLst/>
                <a:latin typeface="+mj-lt"/>
              </a:rPr>
              <a:t>Receiver Operating Characteristic (ROC) curve: A plot of the true positive rate against the false positive rate for different threshold values in a binary classification problem.</a:t>
            </a:r>
          </a:p>
          <a:p>
            <a:endParaRPr lang="en-US" sz="2400" b="0" i="0" dirty="0">
              <a:effectLst/>
              <a:latin typeface="+mj-lt"/>
            </a:endParaRPr>
          </a:p>
          <a:p>
            <a:r>
              <a:rPr lang="en-US" sz="2400" b="0" i="0" dirty="0">
                <a:effectLst/>
                <a:latin typeface="+mj-lt"/>
              </a:rPr>
              <a:t>Mean </a:t>
            </a:r>
            <a:r>
              <a:rPr lang="en-US" sz="2400" b="0" i="0" dirty="0" err="1">
                <a:effectLst/>
                <a:latin typeface="+mj-lt"/>
              </a:rPr>
              <a:t>IoU</a:t>
            </a:r>
            <a:r>
              <a:rPr lang="en-US" sz="2400" b="0" i="0" dirty="0">
                <a:effectLst/>
                <a:latin typeface="+mj-lt"/>
              </a:rPr>
              <a:t> (Intersection over Union): A metric commonly used in object detection and segmentation tasks that measures the overlap between predicted and actual bounding boxes or masks.</a:t>
            </a:r>
          </a:p>
          <a:p>
            <a:endParaRPr lang="en-US" sz="2400" b="0" i="0" dirty="0">
              <a:effectLst/>
              <a:latin typeface="+mj-lt"/>
            </a:endParaRPr>
          </a:p>
          <a:p>
            <a:r>
              <a:rPr lang="en-US" sz="2400" b="0" i="0" dirty="0">
                <a:effectLst/>
                <a:latin typeface="+mj-lt"/>
              </a:rPr>
              <a:t>Top-N accuracy: A metric that measures the percentage of times the correct answer is in the top N predicted answers in a multi-class classification problem.</a:t>
            </a:r>
          </a:p>
        </p:txBody>
      </p:sp>
    </p:spTree>
    <p:extLst>
      <p:ext uri="{BB962C8B-B14F-4D97-AF65-F5344CB8AC3E}">
        <p14:creationId xmlns:p14="http://schemas.microsoft.com/office/powerpoint/2010/main" val="1259271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dirty="0">
                <a:solidFill>
                  <a:srgbClr val="04B452"/>
                </a:solidFill>
              </a:rPr>
              <a:t>Model Performance Assessment: Examples #5</a:t>
            </a:r>
          </a:p>
        </p:txBody>
      </p:sp>
      <p:sp>
        <p:nvSpPr>
          <p:cNvPr id="4" name="Slide Number Placeholder 3"/>
          <p:cNvSpPr>
            <a:spLocks noGrp="1"/>
          </p:cNvSpPr>
          <p:nvPr>
            <p:ph type="sldNum" sz="quarter" idx="12"/>
          </p:nvPr>
        </p:nvSpPr>
        <p:spPr/>
        <p:txBody>
          <a:bodyPr/>
          <a:lstStyle/>
          <a:p>
            <a:fld id="{7957FF81-3E34-4073-BF50-FE78B3EBEE2E}" type="slidenum">
              <a:rPr lang="en-US" smtClean="0"/>
              <a:t>9</a:t>
            </a:fld>
            <a:endParaRPr lang="en-US"/>
          </a:p>
        </p:txBody>
      </p:sp>
      <p:sp>
        <p:nvSpPr>
          <p:cNvPr id="7" name="TextBox 6">
            <a:extLst>
              <a:ext uri="{FF2B5EF4-FFF2-40B4-BE49-F238E27FC236}">
                <a16:creationId xmlns:a16="http://schemas.microsoft.com/office/drawing/2014/main" id="{5E39216A-6C4F-2A3B-1F19-3C09B4720E89}"/>
              </a:ext>
            </a:extLst>
          </p:cNvPr>
          <p:cNvSpPr txBox="1"/>
          <p:nvPr/>
        </p:nvSpPr>
        <p:spPr>
          <a:xfrm>
            <a:off x="100208" y="603114"/>
            <a:ext cx="11931537" cy="5632311"/>
          </a:xfrm>
          <a:prstGeom prst="rect">
            <a:avLst/>
          </a:prstGeom>
          <a:noFill/>
        </p:spPr>
        <p:txBody>
          <a:bodyPr wrap="square">
            <a:spAutoFit/>
          </a:bodyPr>
          <a:lstStyle/>
          <a:p>
            <a:endParaRPr lang="en-US" sz="2400" b="0" i="0" dirty="0">
              <a:effectLst/>
              <a:latin typeface="+mj-lt"/>
            </a:endParaRPr>
          </a:p>
          <a:p>
            <a:r>
              <a:rPr lang="en-US" sz="2400" b="0" i="0" dirty="0">
                <a:effectLst/>
                <a:latin typeface="+mj-lt"/>
              </a:rPr>
              <a:t>Balanced accuracy: A metric that calculates the average of recall rates for each class in a multi-class classification problem, taking into account imbalanced class distributions.</a:t>
            </a:r>
          </a:p>
          <a:p>
            <a:endParaRPr lang="en-US" sz="2400" b="0" i="0" dirty="0">
              <a:effectLst/>
              <a:latin typeface="+mj-lt"/>
            </a:endParaRPr>
          </a:p>
          <a:p>
            <a:r>
              <a:rPr lang="en-US" sz="2400" b="0" i="0" dirty="0">
                <a:effectLst/>
                <a:latin typeface="+mj-lt"/>
              </a:rPr>
              <a:t>F-beta score: A generalized version of the F1 score that allows tuning the balance between precision and recall by setting a parameter beta.</a:t>
            </a:r>
          </a:p>
          <a:p>
            <a:endParaRPr lang="en-US" sz="2400" b="0" i="0" dirty="0">
              <a:effectLst/>
              <a:latin typeface="+mj-lt"/>
            </a:endParaRPr>
          </a:p>
          <a:p>
            <a:r>
              <a:rPr lang="en-US" sz="2400" b="0" i="0" dirty="0">
                <a:effectLst/>
                <a:latin typeface="+mj-lt"/>
              </a:rPr>
              <a:t>Gini coefficient: A metric that measures the inequality among values of a probability distribution, commonly used in evaluating binary classification models.</a:t>
            </a:r>
          </a:p>
          <a:p>
            <a:endParaRPr lang="en-US" sz="2400" b="0" i="0" dirty="0">
              <a:effectLst/>
              <a:latin typeface="+mj-lt"/>
            </a:endParaRPr>
          </a:p>
          <a:p>
            <a:r>
              <a:rPr lang="en-US" sz="2400" b="0" i="0" dirty="0">
                <a:effectLst/>
                <a:latin typeface="+mj-lt"/>
              </a:rPr>
              <a:t>Precision at K: A metric that measures the precision of the top K predicted instances in a recommendation system.</a:t>
            </a:r>
          </a:p>
          <a:p>
            <a:endParaRPr lang="en-US" sz="2400" b="0" i="0" dirty="0">
              <a:effectLst/>
              <a:latin typeface="+mj-lt"/>
            </a:endParaRPr>
          </a:p>
          <a:p>
            <a:r>
              <a:rPr lang="en-US" sz="2400" b="0" i="0" dirty="0">
                <a:effectLst/>
                <a:latin typeface="+mj-lt"/>
              </a:rPr>
              <a:t>Spearman rank correlation coefficient: A metric that measures the correlation between two variables by calculating the rank order of each variable.</a:t>
            </a:r>
          </a:p>
        </p:txBody>
      </p:sp>
    </p:spTree>
    <p:extLst>
      <p:ext uri="{BB962C8B-B14F-4D97-AF65-F5344CB8AC3E}">
        <p14:creationId xmlns:p14="http://schemas.microsoft.com/office/powerpoint/2010/main" val="1696984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dirty="0">
                <a:solidFill>
                  <a:srgbClr val="04B452"/>
                </a:solidFill>
              </a:rPr>
              <a:t>Model Performance Assessment: Examples #6</a:t>
            </a:r>
          </a:p>
        </p:txBody>
      </p:sp>
      <p:sp>
        <p:nvSpPr>
          <p:cNvPr id="4" name="Slide Number Placeholder 3"/>
          <p:cNvSpPr>
            <a:spLocks noGrp="1"/>
          </p:cNvSpPr>
          <p:nvPr>
            <p:ph type="sldNum" sz="quarter" idx="12"/>
          </p:nvPr>
        </p:nvSpPr>
        <p:spPr/>
        <p:txBody>
          <a:bodyPr/>
          <a:lstStyle/>
          <a:p>
            <a:fld id="{7957FF81-3E34-4073-BF50-FE78B3EBEE2E}" type="slidenum">
              <a:rPr lang="en-US" smtClean="0"/>
              <a:t>10</a:t>
            </a:fld>
            <a:endParaRPr lang="en-US"/>
          </a:p>
        </p:txBody>
      </p:sp>
      <p:sp>
        <p:nvSpPr>
          <p:cNvPr id="7" name="TextBox 6">
            <a:extLst>
              <a:ext uri="{FF2B5EF4-FFF2-40B4-BE49-F238E27FC236}">
                <a16:creationId xmlns:a16="http://schemas.microsoft.com/office/drawing/2014/main" id="{5E39216A-6C4F-2A3B-1F19-3C09B4720E89}"/>
              </a:ext>
            </a:extLst>
          </p:cNvPr>
          <p:cNvSpPr txBox="1"/>
          <p:nvPr/>
        </p:nvSpPr>
        <p:spPr>
          <a:xfrm>
            <a:off x="100208" y="603114"/>
            <a:ext cx="11931537" cy="6370975"/>
          </a:xfrm>
          <a:prstGeom prst="rect">
            <a:avLst/>
          </a:prstGeom>
          <a:noFill/>
        </p:spPr>
        <p:txBody>
          <a:bodyPr wrap="square">
            <a:spAutoFit/>
          </a:bodyPr>
          <a:lstStyle/>
          <a:p>
            <a:r>
              <a:rPr lang="en-US" sz="2400" b="0" i="0" dirty="0">
                <a:effectLst/>
                <a:latin typeface="+mj-lt"/>
              </a:rPr>
              <a:t>Weighted F1 score: A metric that calculates the F1 score for each class in a multi-class classification problem, weighted by the number of instances in each class.</a:t>
            </a:r>
          </a:p>
          <a:p>
            <a:endParaRPr lang="en-US" sz="2400" b="0" i="0" dirty="0">
              <a:effectLst/>
              <a:latin typeface="+mj-lt"/>
            </a:endParaRPr>
          </a:p>
          <a:p>
            <a:r>
              <a:rPr lang="en-US" sz="2400" b="0" i="0" dirty="0">
                <a:effectLst/>
                <a:latin typeface="+mj-lt"/>
              </a:rPr>
              <a:t>Coverage: A metric that measures the percentage of unique items in a recommendation system that are covered by the top N recommendations.</a:t>
            </a:r>
          </a:p>
          <a:p>
            <a:endParaRPr lang="en-US" sz="2400" b="0" i="0" dirty="0">
              <a:effectLst/>
              <a:latin typeface="+mj-lt"/>
            </a:endParaRPr>
          </a:p>
          <a:p>
            <a:r>
              <a:rPr lang="en-US" sz="2400" b="0" i="0" dirty="0">
                <a:effectLst/>
                <a:latin typeface="+mj-lt"/>
              </a:rPr>
              <a:t>Multi-class logarithmic loss: A metric that measures the performance of a classifier that outputs probability estimates for each class</a:t>
            </a:r>
          </a:p>
          <a:p>
            <a:endParaRPr lang="en-US" sz="2400" b="0" i="0" dirty="0">
              <a:effectLst/>
              <a:latin typeface="+mj-lt"/>
            </a:endParaRPr>
          </a:p>
          <a:p>
            <a:r>
              <a:rPr lang="en-US" sz="2400" b="0" i="0" dirty="0" err="1">
                <a:effectLst/>
                <a:latin typeface="+mj-lt"/>
              </a:rPr>
              <a:t>Kullback-Leibler</a:t>
            </a:r>
            <a:r>
              <a:rPr lang="en-US" sz="2400" b="0" i="0" dirty="0">
                <a:effectLst/>
                <a:latin typeface="+mj-lt"/>
              </a:rPr>
              <a:t> divergence (KL-divergence): A metric that measures the difference between two probability distributions.</a:t>
            </a:r>
          </a:p>
          <a:p>
            <a:endParaRPr lang="en-US" sz="2400" b="0" i="0" dirty="0">
              <a:effectLst/>
              <a:latin typeface="+mj-lt"/>
            </a:endParaRPr>
          </a:p>
          <a:p>
            <a:r>
              <a:rPr lang="en-US" sz="2400" b="0" i="0" dirty="0">
                <a:effectLst/>
                <a:latin typeface="+mj-lt"/>
              </a:rPr>
              <a:t>Mean Average Precision (MAP): A metric that evaluates the performance of a ranking system by measuring the average precision over different levels of recall.</a:t>
            </a:r>
          </a:p>
          <a:p>
            <a:endParaRPr lang="en-US" sz="2400" b="0" i="0" dirty="0">
              <a:effectLst/>
              <a:latin typeface="+mj-lt"/>
            </a:endParaRPr>
          </a:p>
          <a:p>
            <a:r>
              <a:rPr lang="en-US" sz="2400" b="0" i="0" dirty="0">
                <a:effectLst/>
                <a:latin typeface="+mj-lt"/>
              </a:rPr>
              <a:t>Spearman-Brown correlation coefficient: A metric that measures the correlation between two halves of a test, used in evaluating the reliability of a test or measurement.</a:t>
            </a:r>
            <a:endParaRPr lang="en-US" sz="2400" dirty="0"/>
          </a:p>
        </p:txBody>
      </p:sp>
    </p:spTree>
    <p:extLst>
      <p:ext uri="{BB962C8B-B14F-4D97-AF65-F5344CB8AC3E}">
        <p14:creationId xmlns:p14="http://schemas.microsoft.com/office/powerpoint/2010/main" val="175551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What is the problem we are trying to solve?</a:t>
            </a:r>
            <a:endParaRPr lang="en-US" dirty="0">
              <a:solidFill>
                <a:srgbClr val="04B452"/>
              </a:solidFill>
            </a:endParaRPr>
          </a:p>
        </p:txBody>
      </p:sp>
      <p:sp>
        <p:nvSpPr>
          <p:cNvPr id="3" name="Content Placeholder 2"/>
          <p:cNvSpPr>
            <a:spLocks noGrp="1"/>
          </p:cNvSpPr>
          <p:nvPr>
            <p:ph idx="1"/>
          </p:nvPr>
        </p:nvSpPr>
        <p:spPr>
          <a:xfrm>
            <a:off x="166540" y="731836"/>
            <a:ext cx="11870972" cy="4525963"/>
          </a:xfrm>
        </p:spPr>
        <p:txBody>
          <a:bodyPr>
            <a:noAutofit/>
          </a:bodyPr>
          <a:lstStyle/>
          <a:p>
            <a:r>
              <a:rPr lang="en-US" sz="2400" dirty="0"/>
              <a:t>Cross Validation address the problem of Over-fitting.</a:t>
            </a:r>
          </a:p>
          <a:p>
            <a:endParaRPr lang="en-US" sz="2400" dirty="0"/>
          </a:p>
          <a:p>
            <a:r>
              <a:rPr lang="en-US" sz="2400" dirty="0"/>
              <a:t>Overfitting happens when a model is too complex and captures the noise or random fluctuations in the training data, instead of the underlying patterns that generalize to new data. </a:t>
            </a:r>
          </a:p>
          <a:p>
            <a:endParaRPr lang="en-US" sz="2400" dirty="0"/>
          </a:p>
          <a:p>
            <a:r>
              <a:rPr lang="en-US" sz="2400" dirty="0"/>
              <a:t>This can lead to poor performance on the test set and can cause the model to be less useful in practice.</a:t>
            </a:r>
          </a:p>
          <a:p>
            <a:endParaRPr lang="en-US" sz="2400" dirty="0"/>
          </a:p>
          <a:p>
            <a:r>
              <a:rPr lang="en-US" sz="2400" dirty="0"/>
              <a:t>Cross-validation helps to address this problem by partitioning the available data into several subsets, or folds, and using each fold as a validation set while the other folds are used for training. </a:t>
            </a:r>
          </a:p>
          <a:p>
            <a:endParaRPr lang="en-US" sz="2400" dirty="0"/>
          </a:p>
          <a:p>
            <a:r>
              <a:rPr lang="en-US" sz="2400" dirty="0"/>
              <a:t>This way, the model is tested on data it has not seen during training, and the performance on the validation set can be used as an estimate of the model's generalization performance.</a:t>
            </a:r>
          </a:p>
        </p:txBody>
      </p:sp>
      <p:sp>
        <p:nvSpPr>
          <p:cNvPr id="4" name="Slide Number Placeholder 3"/>
          <p:cNvSpPr>
            <a:spLocks noGrp="1"/>
          </p:cNvSpPr>
          <p:nvPr>
            <p:ph type="sldNum" sz="quarter" idx="12"/>
          </p:nvPr>
        </p:nvSpPr>
        <p:spPr/>
        <p:txBody>
          <a:bodyPr/>
          <a:lstStyle/>
          <a:p>
            <a:fld id="{7957FF81-3E34-4073-BF50-FE78B3EBEE2E}" type="slidenum">
              <a:rPr lang="en-US" smtClean="0"/>
              <a:t>11</a:t>
            </a:fld>
            <a:endParaRPr lang="en-US"/>
          </a:p>
        </p:txBody>
      </p:sp>
    </p:spTree>
    <p:extLst>
      <p:ext uri="{BB962C8B-B14F-4D97-AF65-F5344CB8AC3E}">
        <p14:creationId xmlns:p14="http://schemas.microsoft.com/office/powerpoint/2010/main" val="283900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Cross Validation</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12</a:t>
            </a:fld>
            <a:endParaRPr lang="en-US"/>
          </a:p>
        </p:txBody>
      </p:sp>
      <p:sp>
        <p:nvSpPr>
          <p:cNvPr id="5" name="Content Placeholder 2">
            <a:extLst>
              <a:ext uri="{FF2B5EF4-FFF2-40B4-BE49-F238E27FC236}">
                <a16:creationId xmlns:a16="http://schemas.microsoft.com/office/drawing/2014/main" id="{57E06FA9-952A-3CA4-DE3C-73FA012F9834}"/>
              </a:ext>
            </a:extLst>
          </p:cNvPr>
          <p:cNvSpPr txBox="1">
            <a:spLocks/>
          </p:cNvSpPr>
          <p:nvPr/>
        </p:nvSpPr>
        <p:spPr>
          <a:xfrm>
            <a:off x="75414" y="6309218"/>
            <a:ext cx="12041171" cy="52050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hlinkClick r:id="rId2"/>
              </a:rPr>
              <a:t>https://dataaspirant.com/cross-validation/</a:t>
            </a:r>
            <a:r>
              <a:rPr lang="en-US" sz="1800"/>
              <a:t> </a:t>
            </a:r>
            <a:endParaRPr lang="en-US" sz="1800" dirty="0"/>
          </a:p>
        </p:txBody>
      </p:sp>
      <p:pic>
        <p:nvPicPr>
          <p:cNvPr id="6146" name="Picture 2" descr="Cross Validation In Machine Learning">
            <a:extLst>
              <a:ext uri="{FF2B5EF4-FFF2-40B4-BE49-F238E27FC236}">
                <a16:creationId xmlns:a16="http://schemas.microsoft.com/office/drawing/2014/main" id="{AE4C3CD3-050D-A3EE-BB40-66FA825A0A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705"/>
          <a:stretch/>
        </p:blipFill>
        <p:spPr bwMode="auto">
          <a:xfrm>
            <a:off x="1002339" y="661002"/>
            <a:ext cx="10812545" cy="5209194"/>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596007B5-B924-D20D-5089-C871DE3A1447}"/>
              </a:ext>
            </a:extLst>
          </p:cNvPr>
          <p:cNvSpPr/>
          <p:nvPr/>
        </p:nvSpPr>
        <p:spPr>
          <a:xfrm>
            <a:off x="513135" y="1486276"/>
            <a:ext cx="978408"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4156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Types of Cross-Validation</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13</a:t>
            </a:fld>
            <a:endParaRPr lang="en-US"/>
          </a:p>
        </p:txBody>
      </p:sp>
      <p:sp>
        <p:nvSpPr>
          <p:cNvPr id="6" name="TextBox 5">
            <a:extLst>
              <a:ext uri="{FF2B5EF4-FFF2-40B4-BE49-F238E27FC236}">
                <a16:creationId xmlns:a16="http://schemas.microsoft.com/office/drawing/2014/main" id="{0E8080DB-C9AD-5F2C-92E9-EDBAA611098F}"/>
              </a:ext>
            </a:extLst>
          </p:cNvPr>
          <p:cNvSpPr txBox="1"/>
          <p:nvPr/>
        </p:nvSpPr>
        <p:spPr>
          <a:xfrm>
            <a:off x="166540" y="6370650"/>
            <a:ext cx="6206246" cy="369332"/>
          </a:xfrm>
          <a:prstGeom prst="rect">
            <a:avLst/>
          </a:prstGeom>
          <a:noFill/>
        </p:spPr>
        <p:txBody>
          <a:bodyPr wrap="square">
            <a:spAutoFit/>
          </a:bodyPr>
          <a:lstStyle/>
          <a:p>
            <a:r>
              <a:rPr lang="en-US"/>
              <a:t>https://www.mygreatlearning.com/blog/cross-validation/</a:t>
            </a:r>
          </a:p>
        </p:txBody>
      </p:sp>
      <p:sp>
        <p:nvSpPr>
          <p:cNvPr id="7" name="Rectangle: Rounded Corners 6">
            <a:extLst>
              <a:ext uri="{FF2B5EF4-FFF2-40B4-BE49-F238E27FC236}">
                <a16:creationId xmlns:a16="http://schemas.microsoft.com/office/drawing/2014/main" id="{34146C13-BDF5-756D-55B1-F710FC830DBF}"/>
              </a:ext>
            </a:extLst>
          </p:cNvPr>
          <p:cNvSpPr/>
          <p:nvPr/>
        </p:nvSpPr>
        <p:spPr>
          <a:xfrm>
            <a:off x="4452625" y="886395"/>
            <a:ext cx="2903455" cy="63350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Cross-Validation</a:t>
            </a:r>
          </a:p>
        </p:txBody>
      </p:sp>
      <p:sp>
        <p:nvSpPr>
          <p:cNvPr id="8" name="Rectangle: Rounded Corners 7">
            <a:extLst>
              <a:ext uri="{FF2B5EF4-FFF2-40B4-BE49-F238E27FC236}">
                <a16:creationId xmlns:a16="http://schemas.microsoft.com/office/drawing/2014/main" id="{653104BE-D790-2714-226B-A27A6CA722CA}"/>
              </a:ext>
            </a:extLst>
          </p:cNvPr>
          <p:cNvSpPr/>
          <p:nvPr/>
        </p:nvSpPr>
        <p:spPr>
          <a:xfrm>
            <a:off x="741407" y="2140085"/>
            <a:ext cx="2903455" cy="881974"/>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Non-Exhaustive</a:t>
            </a:r>
          </a:p>
          <a:p>
            <a:pPr algn="ctr"/>
            <a:r>
              <a:rPr lang="en-US" sz="2400">
                <a:solidFill>
                  <a:schemeClr val="tx1"/>
                </a:solidFill>
              </a:rPr>
              <a:t>Methods</a:t>
            </a:r>
          </a:p>
        </p:txBody>
      </p:sp>
      <p:sp>
        <p:nvSpPr>
          <p:cNvPr id="9" name="Rectangle: Rounded Corners 8">
            <a:extLst>
              <a:ext uri="{FF2B5EF4-FFF2-40B4-BE49-F238E27FC236}">
                <a16:creationId xmlns:a16="http://schemas.microsoft.com/office/drawing/2014/main" id="{E7B2B6A3-2069-7D11-032B-E09242E20A4F}"/>
              </a:ext>
            </a:extLst>
          </p:cNvPr>
          <p:cNvSpPr/>
          <p:nvPr/>
        </p:nvSpPr>
        <p:spPr>
          <a:xfrm>
            <a:off x="5717328" y="2140085"/>
            <a:ext cx="2903455" cy="884014"/>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Exhaustive</a:t>
            </a:r>
          </a:p>
          <a:p>
            <a:pPr algn="ctr"/>
            <a:r>
              <a:rPr lang="en-US" sz="2400">
                <a:solidFill>
                  <a:schemeClr val="tx1"/>
                </a:solidFill>
              </a:rPr>
              <a:t>Methods</a:t>
            </a:r>
          </a:p>
        </p:txBody>
      </p:sp>
      <p:sp>
        <p:nvSpPr>
          <p:cNvPr id="10" name="Rectangle: Rounded Corners 9">
            <a:extLst>
              <a:ext uri="{FF2B5EF4-FFF2-40B4-BE49-F238E27FC236}">
                <a16:creationId xmlns:a16="http://schemas.microsoft.com/office/drawing/2014/main" id="{840F13D5-DB2D-2E16-3195-7F29816D9EF4}"/>
              </a:ext>
            </a:extLst>
          </p:cNvPr>
          <p:cNvSpPr/>
          <p:nvPr/>
        </p:nvSpPr>
        <p:spPr>
          <a:xfrm>
            <a:off x="8949372" y="2215545"/>
            <a:ext cx="2903455" cy="884014"/>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Rolling</a:t>
            </a:r>
          </a:p>
          <a:p>
            <a:pPr algn="ctr"/>
            <a:r>
              <a:rPr lang="en-US" sz="2400">
                <a:solidFill>
                  <a:schemeClr val="tx1"/>
                </a:solidFill>
              </a:rPr>
              <a:t>Cross-Validation</a:t>
            </a:r>
          </a:p>
        </p:txBody>
      </p:sp>
      <p:sp>
        <p:nvSpPr>
          <p:cNvPr id="11" name="Rectangle: Rounded Corners 10">
            <a:extLst>
              <a:ext uri="{FF2B5EF4-FFF2-40B4-BE49-F238E27FC236}">
                <a16:creationId xmlns:a16="http://schemas.microsoft.com/office/drawing/2014/main" id="{5020D509-AE4F-C237-0166-311C31C7B0A8}"/>
              </a:ext>
            </a:extLst>
          </p:cNvPr>
          <p:cNvSpPr/>
          <p:nvPr/>
        </p:nvSpPr>
        <p:spPr>
          <a:xfrm>
            <a:off x="166541" y="4078387"/>
            <a:ext cx="1550480" cy="84158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Holdout </a:t>
            </a:r>
          </a:p>
          <a:p>
            <a:pPr algn="ctr"/>
            <a:r>
              <a:rPr lang="en-US" sz="2400">
                <a:solidFill>
                  <a:schemeClr val="tx1"/>
                </a:solidFill>
              </a:rPr>
              <a:t>Method</a:t>
            </a:r>
          </a:p>
        </p:txBody>
      </p:sp>
      <p:sp>
        <p:nvSpPr>
          <p:cNvPr id="12" name="Rectangle: Rounded Corners 11">
            <a:extLst>
              <a:ext uri="{FF2B5EF4-FFF2-40B4-BE49-F238E27FC236}">
                <a16:creationId xmlns:a16="http://schemas.microsoft.com/office/drawing/2014/main" id="{53044378-6C75-6B33-0F3C-253914A5189B}"/>
              </a:ext>
            </a:extLst>
          </p:cNvPr>
          <p:cNvSpPr/>
          <p:nvPr/>
        </p:nvSpPr>
        <p:spPr>
          <a:xfrm>
            <a:off x="1859092" y="4067960"/>
            <a:ext cx="1410571" cy="84464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K-Fold</a:t>
            </a:r>
          </a:p>
          <a:p>
            <a:pPr algn="ctr"/>
            <a:r>
              <a:rPr lang="en-US" sz="2400">
                <a:solidFill>
                  <a:schemeClr val="tx1"/>
                </a:solidFill>
              </a:rPr>
              <a:t>CV</a:t>
            </a:r>
          </a:p>
        </p:txBody>
      </p:sp>
      <p:sp>
        <p:nvSpPr>
          <p:cNvPr id="13" name="Rectangle: Rounded Corners 12">
            <a:extLst>
              <a:ext uri="{FF2B5EF4-FFF2-40B4-BE49-F238E27FC236}">
                <a16:creationId xmlns:a16="http://schemas.microsoft.com/office/drawing/2014/main" id="{295B5A87-C3EC-0B4E-F493-E8091688D79F}"/>
              </a:ext>
            </a:extLst>
          </p:cNvPr>
          <p:cNvSpPr/>
          <p:nvPr/>
        </p:nvSpPr>
        <p:spPr>
          <a:xfrm>
            <a:off x="5897976" y="4078387"/>
            <a:ext cx="1461222" cy="84464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Leave </a:t>
            </a:r>
          </a:p>
          <a:p>
            <a:pPr algn="ctr"/>
            <a:r>
              <a:rPr lang="en-US" sz="2400">
                <a:solidFill>
                  <a:schemeClr val="tx1"/>
                </a:solidFill>
              </a:rPr>
              <a:t>N Out</a:t>
            </a:r>
          </a:p>
        </p:txBody>
      </p:sp>
      <p:sp>
        <p:nvSpPr>
          <p:cNvPr id="14" name="Rectangle: Rounded Corners 13">
            <a:extLst>
              <a:ext uri="{FF2B5EF4-FFF2-40B4-BE49-F238E27FC236}">
                <a16:creationId xmlns:a16="http://schemas.microsoft.com/office/drawing/2014/main" id="{C83CF96C-9AF9-B4CB-CC8D-188FE2924C19}"/>
              </a:ext>
            </a:extLst>
          </p:cNvPr>
          <p:cNvSpPr/>
          <p:nvPr/>
        </p:nvSpPr>
        <p:spPr>
          <a:xfrm>
            <a:off x="7511598" y="4084310"/>
            <a:ext cx="1461222" cy="84464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Leave </a:t>
            </a:r>
          </a:p>
          <a:p>
            <a:pPr algn="ctr"/>
            <a:r>
              <a:rPr lang="en-US" sz="2400" dirty="0">
                <a:solidFill>
                  <a:schemeClr val="tx1"/>
                </a:solidFill>
              </a:rPr>
              <a:t>One Out</a:t>
            </a:r>
          </a:p>
        </p:txBody>
      </p:sp>
      <p:cxnSp>
        <p:nvCxnSpPr>
          <p:cNvPr id="18" name="Straight Arrow Connector 17">
            <a:extLst>
              <a:ext uri="{FF2B5EF4-FFF2-40B4-BE49-F238E27FC236}">
                <a16:creationId xmlns:a16="http://schemas.microsoft.com/office/drawing/2014/main" id="{8C27BB54-F3EF-EF0B-6C6C-6A4B704BE65E}"/>
              </a:ext>
            </a:extLst>
          </p:cNvPr>
          <p:cNvCxnSpPr>
            <a:cxnSpLocks/>
          </p:cNvCxnSpPr>
          <p:nvPr/>
        </p:nvCxnSpPr>
        <p:spPr>
          <a:xfrm flipH="1">
            <a:off x="2042809" y="1533205"/>
            <a:ext cx="2780605" cy="606880"/>
          </a:xfrm>
          <a:prstGeom prst="straightConnector1">
            <a:avLst/>
          </a:prstGeom>
          <a:ln w="127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D8CFE33-52AB-06DF-0805-9A1A3E3C7DC1}"/>
              </a:ext>
            </a:extLst>
          </p:cNvPr>
          <p:cNvCxnSpPr>
            <a:cxnSpLocks/>
            <a:endCxn id="10" idx="0"/>
          </p:cNvCxnSpPr>
          <p:nvPr/>
        </p:nvCxnSpPr>
        <p:spPr>
          <a:xfrm>
            <a:off x="6376194" y="1526550"/>
            <a:ext cx="4024906" cy="688995"/>
          </a:xfrm>
          <a:prstGeom prst="straightConnector1">
            <a:avLst/>
          </a:prstGeom>
          <a:ln w="127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BB0EFCD-F89D-7765-5F06-8AC560231A81}"/>
              </a:ext>
            </a:extLst>
          </p:cNvPr>
          <p:cNvCxnSpPr>
            <a:cxnSpLocks/>
          </p:cNvCxnSpPr>
          <p:nvPr/>
        </p:nvCxnSpPr>
        <p:spPr>
          <a:xfrm>
            <a:off x="6045917" y="1531322"/>
            <a:ext cx="1507" cy="608763"/>
          </a:xfrm>
          <a:prstGeom prst="straightConnector1">
            <a:avLst/>
          </a:prstGeom>
          <a:ln w="127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536C5B0-E1A1-3A4A-9803-16F7E62B858D}"/>
              </a:ext>
            </a:extLst>
          </p:cNvPr>
          <p:cNvCxnSpPr>
            <a:cxnSpLocks/>
            <a:endCxn id="11" idx="0"/>
          </p:cNvCxnSpPr>
          <p:nvPr/>
        </p:nvCxnSpPr>
        <p:spPr>
          <a:xfrm flipH="1">
            <a:off x="941781" y="3047954"/>
            <a:ext cx="775239" cy="1030433"/>
          </a:xfrm>
          <a:prstGeom prst="straightConnector1">
            <a:avLst/>
          </a:prstGeom>
          <a:ln w="127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128491E-59F8-FDA5-CCB0-0D8004ADFC38}"/>
              </a:ext>
            </a:extLst>
          </p:cNvPr>
          <p:cNvCxnSpPr>
            <a:cxnSpLocks/>
            <a:stCxn id="8" idx="2"/>
            <a:endCxn id="12" idx="0"/>
          </p:cNvCxnSpPr>
          <p:nvPr/>
        </p:nvCxnSpPr>
        <p:spPr>
          <a:xfrm>
            <a:off x="2193135" y="3022059"/>
            <a:ext cx="371243" cy="1045901"/>
          </a:xfrm>
          <a:prstGeom prst="straightConnector1">
            <a:avLst/>
          </a:prstGeom>
          <a:ln w="127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E6AC27E-8556-F243-1238-282DD57F76CF}"/>
              </a:ext>
            </a:extLst>
          </p:cNvPr>
          <p:cNvCxnSpPr>
            <a:cxnSpLocks/>
            <a:endCxn id="13" idx="0"/>
          </p:cNvCxnSpPr>
          <p:nvPr/>
        </p:nvCxnSpPr>
        <p:spPr>
          <a:xfrm flipH="1">
            <a:off x="6628587" y="3020118"/>
            <a:ext cx="598267" cy="1058269"/>
          </a:xfrm>
          <a:prstGeom prst="straightConnector1">
            <a:avLst/>
          </a:prstGeom>
          <a:ln w="127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37881D38-F708-9C52-5F9E-6CB85627993B}"/>
              </a:ext>
            </a:extLst>
          </p:cNvPr>
          <p:cNvCxnSpPr>
            <a:cxnSpLocks/>
          </p:cNvCxnSpPr>
          <p:nvPr/>
        </p:nvCxnSpPr>
        <p:spPr>
          <a:xfrm>
            <a:off x="7434378" y="3035860"/>
            <a:ext cx="829042" cy="1040586"/>
          </a:xfrm>
          <a:prstGeom prst="straightConnector1">
            <a:avLst/>
          </a:prstGeom>
          <a:ln w="127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7FA855FD-F793-9320-C12F-260B8C354E05}"/>
              </a:ext>
            </a:extLst>
          </p:cNvPr>
          <p:cNvSpPr/>
          <p:nvPr/>
        </p:nvSpPr>
        <p:spPr>
          <a:xfrm>
            <a:off x="3435566" y="4057780"/>
            <a:ext cx="1570067" cy="84464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chemeClr val="tx1"/>
                </a:solidFill>
              </a:rPr>
              <a:t>Stratified</a:t>
            </a:r>
          </a:p>
          <a:p>
            <a:pPr algn="ctr"/>
            <a:r>
              <a:rPr lang="en-US" sz="2400">
                <a:solidFill>
                  <a:schemeClr val="tx1"/>
                </a:solidFill>
              </a:rPr>
              <a:t>K-Fold CV</a:t>
            </a:r>
          </a:p>
        </p:txBody>
      </p:sp>
      <p:cxnSp>
        <p:nvCxnSpPr>
          <p:cNvPr id="41" name="Straight Arrow Connector 40">
            <a:extLst>
              <a:ext uri="{FF2B5EF4-FFF2-40B4-BE49-F238E27FC236}">
                <a16:creationId xmlns:a16="http://schemas.microsoft.com/office/drawing/2014/main" id="{BD79E79D-564C-9DF1-8533-57EE516AFF33}"/>
              </a:ext>
            </a:extLst>
          </p:cNvPr>
          <p:cNvCxnSpPr>
            <a:cxnSpLocks/>
            <a:endCxn id="40" idx="0"/>
          </p:cNvCxnSpPr>
          <p:nvPr/>
        </p:nvCxnSpPr>
        <p:spPr>
          <a:xfrm>
            <a:off x="2714407" y="3024099"/>
            <a:ext cx="1506193" cy="1033681"/>
          </a:xfrm>
          <a:prstGeom prst="straightConnector1">
            <a:avLst/>
          </a:prstGeom>
          <a:ln w="127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7278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Holdout Cross Validation</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14</a:t>
            </a:fld>
            <a:endParaRPr lang="en-US"/>
          </a:p>
        </p:txBody>
      </p:sp>
      <p:sp>
        <p:nvSpPr>
          <p:cNvPr id="5" name="Content Placeholder 2">
            <a:extLst>
              <a:ext uri="{FF2B5EF4-FFF2-40B4-BE49-F238E27FC236}">
                <a16:creationId xmlns:a16="http://schemas.microsoft.com/office/drawing/2014/main" id="{57E06FA9-952A-3CA4-DE3C-73FA012F9834}"/>
              </a:ext>
            </a:extLst>
          </p:cNvPr>
          <p:cNvSpPr txBox="1">
            <a:spLocks/>
          </p:cNvSpPr>
          <p:nvPr/>
        </p:nvSpPr>
        <p:spPr>
          <a:xfrm>
            <a:off x="75414" y="6309218"/>
            <a:ext cx="12041171" cy="52050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hlinkClick r:id="rId2"/>
              </a:rPr>
              <a:t>https://www.researchgate.net/figure/k-fold-cross-validation-example_fig1_335074407</a:t>
            </a:r>
            <a:r>
              <a:rPr lang="en-US" sz="1800"/>
              <a:t> </a:t>
            </a:r>
            <a:endParaRPr lang="en-US" sz="1800" dirty="0"/>
          </a:p>
        </p:txBody>
      </p:sp>
      <p:pic>
        <p:nvPicPr>
          <p:cNvPr id="1026" name="Picture 2" descr="Importance of Cross Validation: Are Evaluation Metrics enough? - Analytics  Vidhya">
            <a:extLst>
              <a:ext uri="{FF2B5EF4-FFF2-40B4-BE49-F238E27FC236}">
                <a16:creationId xmlns:a16="http://schemas.microsoft.com/office/drawing/2014/main" id="{F40A8C6B-9280-B858-5DF5-E6966FBF4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0373" y="775881"/>
            <a:ext cx="4601017" cy="253864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5A4D74D-F3E3-DA6A-BC5F-210AC50A6D68}"/>
              </a:ext>
            </a:extLst>
          </p:cNvPr>
          <p:cNvSpPr txBox="1"/>
          <p:nvPr/>
        </p:nvSpPr>
        <p:spPr>
          <a:xfrm>
            <a:off x="8030817" y="2077278"/>
            <a:ext cx="1733360" cy="646331"/>
          </a:xfrm>
          <a:prstGeom prst="rect">
            <a:avLst/>
          </a:prstGeom>
          <a:noFill/>
        </p:spPr>
        <p:txBody>
          <a:bodyPr wrap="none" rtlCol="0">
            <a:spAutoFit/>
          </a:bodyPr>
          <a:lstStyle/>
          <a:p>
            <a:r>
              <a:rPr lang="en-US"/>
              <a:t>Traditional Splits</a:t>
            </a:r>
          </a:p>
          <a:p>
            <a:endParaRPr lang="en-US"/>
          </a:p>
        </p:txBody>
      </p:sp>
      <p:sp>
        <p:nvSpPr>
          <p:cNvPr id="7" name="TextBox 6">
            <a:extLst>
              <a:ext uri="{FF2B5EF4-FFF2-40B4-BE49-F238E27FC236}">
                <a16:creationId xmlns:a16="http://schemas.microsoft.com/office/drawing/2014/main" id="{B7F5A76A-B3CD-55DA-AFAD-23A2FCE3C361}"/>
              </a:ext>
            </a:extLst>
          </p:cNvPr>
          <p:cNvSpPr txBox="1"/>
          <p:nvPr/>
        </p:nvSpPr>
        <p:spPr>
          <a:xfrm>
            <a:off x="407458" y="3314528"/>
            <a:ext cx="10157883" cy="2677656"/>
          </a:xfrm>
          <a:prstGeom prst="rect">
            <a:avLst/>
          </a:prstGeom>
          <a:noFill/>
        </p:spPr>
        <p:txBody>
          <a:bodyPr wrap="square">
            <a:spAutoFit/>
          </a:bodyPr>
          <a:lstStyle/>
          <a:p>
            <a:r>
              <a:rPr lang="en-US" sz="2400" dirty="0"/>
              <a:t>Basic and simple approach where we split the data.</a:t>
            </a:r>
          </a:p>
          <a:p>
            <a:endParaRPr lang="en-US" sz="2400" dirty="0"/>
          </a:p>
          <a:p>
            <a:r>
              <a:rPr lang="en-US" sz="2400" dirty="0"/>
              <a:t>Data is shuffled randomly before splitting.</a:t>
            </a:r>
          </a:p>
          <a:p>
            <a:r>
              <a:rPr lang="en-US" sz="2400" dirty="0"/>
              <a:t>The model can give different results every time we train it.</a:t>
            </a:r>
          </a:p>
          <a:p>
            <a:endParaRPr lang="en-US" sz="2400" dirty="0"/>
          </a:p>
          <a:p>
            <a:r>
              <a:rPr lang="en-US" sz="2400" dirty="0"/>
              <a:t>Hold-out method works well when you have a very large dataset.</a:t>
            </a:r>
          </a:p>
          <a:p>
            <a:r>
              <a:rPr lang="en-US" sz="2400" dirty="0"/>
              <a:t>This is also good to build an initial model.</a:t>
            </a:r>
          </a:p>
        </p:txBody>
      </p:sp>
      <p:sp>
        <p:nvSpPr>
          <p:cNvPr id="9" name="TextBox 8">
            <a:extLst>
              <a:ext uri="{FF2B5EF4-FFF2-40B4-BE49-F238E27FC236}">
                <a16:creationId xmlns:a16="http://schemas.microsoft.com/office/drawing/2014/main" id="{FE32D5BE-6C38-E2ED-4E5D-19DBD12ADC6F}"/>
              </a:ext>
            </a:extLst>
          </p:cNvPr>
          <p:cNvSpPr txBox="1"/>
          <p:nvPr/>
        </p:nvSpPr>
        <p:spPr>
          <a:xfrm>
            <a:off x="8030817" y="2320197"/>
            <a:ext cx="6202836" cy="1200329"/>
          </a:xfrm>
          <a:prstGeom prst="rect">
            <a:avLst/>
          </a:prstGeom>
          <a:noFill/>
        </p:spPr>
        <p:txBody>
          <a:bodyPr wrap="square">
            <a:spAutoFit/>
          </a:bodyPr>
          <a:lstStyle/>
          <a:p>
            <a:endParaRPr lang="en-US"/>
          </a:p>
          <a:p>
            <a:pPr marL="285750" indent="-285750">
              <a:buFont typeface="Arial" panose="020B0604020202020204" pitchFamily="34" charset="0"/>
              <a:buChar char="•"/>
            </a:pPr>
            <a:r>
              <a:rPr lang="en-US"/>
              <a:t>70% - 30%</a:t>
            </a:r>
          </a:p>
          <a:p>
            <a:pPr marL="285750" indent="-285750">
              <a:buFont typeface="Arial" panose="020B0604020202020204" pitchFamily="34" charset="0"/>
              <a:buChar char="•"/>
            </a:pPr>
            <a:r>
              <a:rPr lang="en-US"/>
              <a:t>75% - 25%</a:t>
            </a:r>
          </a:p>
          <a:p>
            <a:pPr marL="285750" indent="-285750">
              <a:buFont typeface="Arial" panose="020B0604020202020204" pitchFamily="34" charset="0"/>
              <a:buChar char="•"/>
            </a:pPr>
            <a:r>
              <a:rPr lang="en-US"/>
              <a:t>80% - 20%</a:t>
            </a:r>
          </a:p>
        </p:txBody>
      </p:sp>
    </p:spTree>
    <p:extLst>
      <p:ext uri="{BB962C8B-B14F-4D97-AF65-F5344CB8AC3E}">
        <p14:creationId xmlns:p14="http://schemas.microsoft.com/office/powerpoint/2010/main" val="3863909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K-Fold Cross Validation</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15</a:t>
            </a:fld>
            <a:endParaRPr lang="en-US"/>
          </a:p>
        </p:txBody>
      </p:sp>
      <p:sp>
        <p:nvSpPr>
          <p:cNvPr id="5" name="Content Placeholder 2">
            <a:extLst>
              <a:ext uri="{FF2B5EF4-FFF2-40B4-BE49-F238E27FC236}">
                <a16:creationId xmlns:a16="http://schemas.microsoft.com/office/drawing/2014/main" id="{57E06FA9-952A-3CA4-DE3C-73FA012F9834}"/>
              </a:ext>
            </a:extLst>
          </p:cNvPr>
          <p:cNvSpPr txBox="1">
            <a:spLocks/>
          </p:cNvSpPr>
          <p:nvPr/>
        </p:nvSpPr>
        <p:spPr>
          <a:xfrm>
            <a:off x="75414" y="6309218"/>
            <a:ext cx="12041171" cy="52050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a:hlinkClick r:id="rId2"/>
              </a:rPr>
              <a:t>https://www.section.io/engineering-education/how-to-implement-k-fold-cross-validation/</a:t>
            </a:r>
            <a:r>
              <a:rPr lang="en-US" sz="1600"/>
              <a:t> </a:t>
            </a:r>
          </a:p>
        </p:txBody>
      </p:sp>
      <p:pic>
        <p:nvPicPr>
          <p:cNvPr id="8" name="Picture 7">
            <a:extLst>
              <a:ext uri="{FF2B5EF4-FFF2-40B4-BE49-F238E27FC236}">
                <a16:creationId xmlns:a16="http://schemas.microsoft.com/office/drawing/2014/main" id="{CC90EEA1-9E59-4681-09F4-84E42908B3AE}"/>
              </a:ext>
            </a:extLst>
          </p:cNvPr>
          <p:cNvPicPr>
            <a:picLocks noChangeAspect="1"/>
          </p:cNvPicPr>
          <p:nvPr/>
        </p:nvPicPr>
        <p:blipFill>
          <a:blip r:embed="rId3"/>
          <a:stretch>
            <a:fillRect/>
          </a:stretch>
        </p:blipFill>
        <p:spPr>
          <a:xfrm>
            <a:off x="316289" y="981418"/>
            <a:ext cx="9158452" cy="4764714"/>
          </a:xfrm>
          <a:prstGeom prst="rect">
            <a:avLst/>
          </a:prstGeom>
        </p:spPr>
      </p:pic>
    </p:spTree>
    <p:extLst>
      <p:ext uri="{BB962C8B-B14F-4D97-AF65-F5344CB8AC3E}">
        <p14:creationId xmlns:p14="http://schemas.microsoft.com/office/powerpoint/2010/main" val="2258547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K-Fold Cross Validation</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16</a:t>
            </a:fld>
            <a:endParaRPr lang="en-US"/>
          </a:p>
        </p:txBody>
      </p:sp>
      <p:sp>
        <p:nvSpPr>
          <p:cNvPr id="5" name="Content Placeholder 2">
            <a:extLst>
              <a:ext uri="{FF2B5EF4-FFF2-40B4-BE49-F238E27FC236}">
                <a16:creationId xmlns:a16="http://schemas.microsoft.com/office/drawing/2014/main" id="{57E06FA9-952A-3CA4-DE3C-73FA012F9834}"/>
              </a:ext>
            </a:extLst>
          </p:cNvPr>
          <p:cNvSpPr txBox="1">
            <a:spLocks/>
          </p:cNvSpPr>
          <p:nvPr/>
        </p:nvSpPr>
        <p:spPr>
          <a:xfrm>
            <a:off x="75414" y="6309218"/>
            <a:ext cx="12041171" cy="52050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hlinkClick r:id="rId2"/>
              </a:rPr>
              <a:t>https://www.analyticsvidhya.com/blog/2021/05/importance-of-cross-validation-are-evaluation-metrics-enough/</a:t>
            </a:r>
            <a:r>
              <a:rPr lang="en-US" sz="1800"/>
              <a:t> </a:t>
            </a:r>
            <a:endParaRPr lang="en-US" sz="1800" dirty="0"/>
          </a:p>
        </p:txBody>
      </p:sp>
      <p:pic>
        <p:nvPicPr>
          <p:cNvPr id="2050" name="Picture 2" descr="3 min of Machine Learning: Cross Vaildation | Zitao's Web">
            <a:extLst>
              <a:ext uri="{FF2B5EF4-FFF2-40B4-BE49-F238E27FC236}">
                <a16:creationId xmlns:a16="http://schemas.microsoft.com/office/drawing/2014/main" id="{6C407A7C-55AF-CF5A-1D73-7831A9A77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711" y="810648"/>
            <a:ext cx="8710106" cy="5236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9268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K-Fold Cross Validation</a:t>
            </a:r>
            <a:endParaRPr lang="en-US" dirty="0">
              <a:solidFill>
                <a:srgbClr val="04B452"/>
              </a:solidFill>
            </a:endParaRPr>
          </a:p>
        </p:txBody>
      </p:sp>
      <p:sp>
        <p:nvSpPr>
          <p:cNvPr id="3" name="Content Placeholder 2"/>
          <p:cNvSpPr>
            <a:spLocks noGrp="1"/>
          </p:cNvSpPr>
          <p:nvPr>
            <p:ph idx="1"/>
          </p:nvPr>
        </p:nvSpPr>
        <p:spPr>
          <a:xfrm>
            <a:off x="81699" y="971126"/>
            <a:ext cx="11739514" cy="4525963"/>
          </a:xfrm>
        </p:spPr>
        <p:txBody>
          <a:bodyPr>
            <a:noAutofit/>
          </a:bodyPr>
          <a:lstStyle/>
          <a:p>
            <a:r>
              <a:rPr lang="en-US" sz="2400" dirty="0"/>
              <a:t>K-fold CV guarantees that the score of our model does not depend on the way we picked the training and testing dataset. </a:t>
            </a:r>
          </a:p>
          <a:p>
            <a:r>
              <a:rPr lang="en-US" sz="2400" dirty="0"/>
              <a:t>The data set is divided into k number of subsets and the holdout method is repeated k number of times. </a:t>
            </a:r>
          </a:p>
          <a:p>
            <a:endParaRPr lang="en-US" sz="2400" dirty="0"/>
          </a:p>
          <a:p>
            <a:r>
              <a:rPr lang="en-US" sz="2400" dirty="0"/>
              <a:t>Algorithm:</a:t>
            </a:r>
          </a:p>
          <a:p>
            <a:pPr lvl="1"/>
            <a:r>
              <a:rPr lang="en-US" sz="2000" dirty="0"/>
              <a:t>Randomly split your entire dataset into k number of folds (subsets)</a:t>
            </a:r>
          </a:p>
          <a:p>
            <a:pPr lvl="1"/>
            <a:r>
              <a:rPr lang="en-US" sz="2000" dirty="0"/>
              <a:t>Pick K-1 folds to build the model and the use Kth fold to test the model.</a:t>
            </a:r>
          </a:p>
          <a:p>
            <a:pPr lvl="1"/>
            <a:r>
              <a:rPr lang="en-US" sz="2000" dirty="0"/>
              <a:t>Repeat (Step 2) K times and record the accuracy of the model.</a:t>
            </a:r>
          </a:p>
          <a:p>
            <a:pPr lvl="1"/>
            <a:r>
              <a:rPr lang="en-US" sz="2000" dirty="0"/>
              <a:t>Average accuracy of K runs will serve as the performance metric for the model.</a:t>
            </a:r>
          </a:p>
          <a:p>
            <a:endParaRPr lang="en-US" sz="2400" dirty="0"/>
          </a:p>
          <a:p>
            <a:r>
              <a:rPr lang="en-US" sz="2400" b="1" dirty="0"/>
              <a:t>Advantage</a:t>
            </a:r>
            <a:r>
              <a:rPr lang="en-US" sz="2400" dirty="0"/>
              <a:t>: Results in less biased model. Works best when we have limited set of data.</a:t>
            </a:r>
          </a:p>
          <a:p>
            <a:r>
              <a:rPr lang="en-US" sz="2400" b="1" dirty="0"/>
              <a:t>Disadvantage</a:t>
            </a:r>
            <a:r>
              <a:rPr lang="en-US" sz="2400" dirty="0"/>
              <a:t>: Takes K times as much computation to make an evaluation.</a:t>
            </a:r>
          </a:p>
        </p:txBody>
      </p:sp>
      <p:sp>
        <p:nvSpPr>
          <p:cNvPr id="4" name="Slide Number Placeholder 3"/>
          <p:cNvSpPr>
            <a:spLocks noGrp="1"/>
          </p:cNvSpPr>
          <p:nvPr>
            <p:ph type="sldNum" sz="quarter" idx="12"/>
          </p:nvPr>
        </p:nvSpPr>
        <p:spPr/>
        <p:txBody>
          <a:bodyPr/>
          <a:lstStyle/>
          <a:p>
            <a:fld id="{7957FF81-3E34-4073-BF50-FE78B3EBEE2E}" type="slidenum">
              <a:rPr lang="en-US" smtClean="0"/>
              <a:t>17</a:t>
            </a:fld>
            <a:endParaRPr lang="en-US"/>
          </a:p>
        </p:txBody>
      </p:sp>
    </p:spTree>
    <p:extLst>
      <p:ext uri="{BB962C8B-B14F-4D97-AF65-F5344CB8AC3E}">
        <p14:creationId xmlns:p14="http://schemas.microsoft.com/office/powerpoint/2010/main" val="332197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Stratified K-Fold Cross Validation</a:t>
            </a:r>
            <a:endParaRPr lang="en-US" dirty="0">
              <a:solidFill>
                <a:srgbClr val="04B452"/>
              </a:solidFill>
            </a:endParaRPr>
          </a:p>
        </p:txBody>
      </p:sp>
      <p:sp>
        <p:nvSpPr>
          <p:cNvPr id="3" name="Content Placeholder 2"/>
          <p:cNvSpPr>
            <a:spLocks noGrp="1"/>
          </p:cNvSpPr>
          <p:nvPr>
            <p:ph idx="1"/>
          </p:nvPr>
        </p:nvSpPr>
        <p:spPr>
          <a:xfrm>
            <a:off x="81699" y="971126"/>
            <a:ext cx="11739514" cy="4525963"/>
          </a:xfrm>
        </p:spPr>
        <p:txBody>
          <a:bodyPr>
            <a:noAutofit/>
          </a:bodyPr>
          <a:lstStyle/>
          <a:p>
            <a:r>
              <a:rPr lang="en-US" sz="2400" dirty="0"/>
              <a:t>Using K Fold CV can be tricky as it involves random shuffling. </a:t>
            </a:r>
          </a:p>
          <a:p>
            <a:r>
              <a:rPr lang="en-US" sz="2400" dirty="0"/>
              <a:t>Some folds may cause in highly imbalanced folds, resulting in highly biased model.</a:t>
            </a:r>
          </a:p>
          <a:p>
            <a:r>
              <a:rPr lang="en-US" sz="2400" dirty="0"/>
              <a:t>That is... a fold has majority belonging to one class (say +</a:t>
            </a:r>
            <a:r>
              <a:rPr lang="en-US" sz="2400" dirty="0" err="1"/>
              <a:t>ve</a:t>
            </a:r>
            <a:r>
              <a:rPr lang="en-US" sz="2400" dirty="0"/>
              <a:t>), and only a few </a:t>
            </a:r>
            <a:r>
              <a:rPr lang="en-US" sz="2400" dirty="0" err="1"/>
              <a:t>negaive</a:t>
            </a:r>
            <a:r>
              <a:rPr lang="en-US" sz="2400" dirty="0"/>
              <a:t> classes.</a:t>
            </a:r>
          </a:p>
          <a:p>
            <a:endParaRPr lang="en-US" sz="2400" dirty="0"/>
          </a:p>
          <a:p>
            <a:r>
              <a:rPr lang="en-US" sz="2400" dirty="0"/>
              <a:t>Stratification is the process of rearranging the data so as to ensure that each fold is a good representative of the whole.</a:t>
            </a:r>
          </a:p>
          <a:p>
            <a:endParaRPr lang="en-US" sz="2400" dirty="0"/>
          </a:p>
          <a:p>
            <a:r>
              <a:rPr lang="en-US" sz="2400" dirty="0"/>
              <a:t>For example, in a binary classification problem where each class comprises of 50% of the data, it is best to arrange the data such that in every fold, each class comprises of about half the instances.</a:t>
            </a:r>
          </a:p>
        </p:txBody>
      </p:sp>
      <p:sp>
        <p:nvSpPr>
          <p:cNvPr id="4" name="Slide Number Placeholder 3"/>
          <p:cNvSpPr>
            <a:spLocks noGrp="1"/>
          </p:cNvSpPr>
          <p:nvPr>
            <p:ph type="sldNum" sz="quarter" idx="12"/>
          </p:nvPr>
        </p:nvSpPr>
        <p:spPr/>
        <p:txBody>
          <a:bodyPr/>
          <a:lstStyle/>
          <a:p>
            <a:fld id="{7957FF81-3E34-4073-BF50-FE78B3EBEE2E}" type="slidenum">
              <a:rPr lang="en-US" smtClean="0"/>
              <a:t>18</a:t>
            </a:fld>
            <a:endParaRPr lang="en-US"/>
          </a:p>
        </p:txBody>
      </p:sp>
    </p:spTree>
    <p:extLst>
      <p:ext uri="{BB962C8B-B14F-4D97-AF65-F5344CB8AC3E}">
        <p14:creationId xmlns:p14="http://schemas.microsoft.com/office/powerpoint/2010/main" val="385087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Stratified K-Fold Cross Validation</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19</a:t>
            </a:fld>
            <a:endParaRPr lang="en-US"/>
          </a:p>
        </p:txBody>
      </p:sp>
      <p:pic>
        <p:nvPicPr>
          <p:cNvPr id="4098" name="Picture 2" descr="figure 2048x413">
            <a:extLst>
              <a:ext uri="{FF2B5EF4-FFF2-40B4-BE49-F238E27FC236}">
                <a16:creationId xmlns:a16="http://schemas.microsoft.com/office/drawing/2014/main" id="{DAE6AD21-0C16-20B5-DCFC-20DD098E1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161" y="1343937"/>
            <a:ext cx="11589731" cy="234284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8591AE7-EB99-ABD9-7F31-C2A341EB4FC4}"/>
              </a:ext>
            </a:extLst>
          </p:cNvPr>
          <p:cNvSpPr txBox="1"/>
          <p:nvPr/>
        </p:nvSpPr>
        <p:spPr>
          <a:xfrm>
            <a:off x="256161" y="6330423"/>
            <a:ext cx="6206246" cy="369332"/>
          </a:xfrm>
          <a:prstGeom prst="rect">
            <a:avLst/>
          </a:prstGeom>
          <a:noFill/>
        </p:spPr>
        <p:txBody>
          <a:bodyPr wrap="square">
            <a:spAutoFit/>
          </a:bodyPr>
          <a:lstStyle/>
          <a:p>
            <a:r>
              <a:rPr lang="en-US">
                <a:hlinkClick r:id="rId3"/>
              </a:rPr>
              <a:t>https://www.baeldung.com/cs/ml-stratified-sampling</a:t>
            </a:r>
            <a:r>
              <a:rPr lang="en-US"/>
              <a:t> </a:t>
            </a:r>
          </a:p>
        </p:txBody>
      </p:sp>
    </p:spTree>
    <p:extLst>
      <p:ext uri="{BB962C8B-B14F-4D97-AF65-F5344CB8AC3E}">
        <p14:creationId xmlns:p14="http://schemas.microsoft.com/office/powerpoint/2010/main" val="2574948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Stratified K-Fold Cross Validation</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20</a:t>
            </a:fld>
            <a:endParaRPr lang="en-US"/>
          </a:p>
        </p:txBody>
      </p:sp>
      <p:sp>
        <p:nvSpPr>
          <p:cNvPr id="6" name="Content Placeholder 5">
            <a:extLst>
              <a:ext uri="{FF2B5EF4-FFF2-40B4-BE49-F238E27FC236}">
                <a16:creationId xmlns:a16="http://schemas.microsoft.com/office/drawing/2014/main" id="{86AC8149-E1D7-49ED-3643-C92CC2E56F88}"/>
              </a:ext>
            </a:extLst>
          </p:cNvPr>
          <p:cNvSpPr>
            <a:spLocks noGrp="1"/>
          </p:cNvSpPr>
          <p:nvPr>
            <p:ph idx="1"/>
          </p:nvPr>
        </p:nvSpPr>
        <p:spPr/>
        <p:txBody>
          <a:bodyPr/>
          <a:lstStyle/>
          <a:p>
            <a:endParaRPr lang="en-US"/>
          </a:p>
        </p:txBody>
      </p:sp>
      <p:pic>
        <p:nvPicPr>
          <p:cNvPr id="3074" name="Picture 2" descr="Understanding stratified cross-validation - Cross Validated">
            <a:extLst>
              <a:ext uri="{FF2B5EF4-FFF2-40B4-BE49-F238E27FC236}">
                <a16:creationId xmlns:a16="http://schemas.microsoft.com/office/drawing/2014/main" id="{4E207429-55FF-6B3E-D40D-61CA15E947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1076325"/>
            <a:ext cx="12058650" cy="470535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5EAD2833-4C77-9D67-2013-0856706F5B5A}"/>
              </a:ext>
            </a:extLst>
          </p:cNvPr>
          <p:cNvSpPr txBox="1">
            <a:spLocks/>
          </p:cNvSpPr>
          <p:nvPr/>
        </p:nvSpPr>
        <p:spPr>
          <a:xfrm>
            <a:off x="75414" y="6309218"/>
            <a:ext cx="12041171" cy="52050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hlinkClick r:id="rId3"/>
              </a:rPr>
              <a:t>https://www.analyticsvidhya.com/blog/2021/05/importance-of-cross-validation-are-evaluation-metrics-enough/</a:t>
            </a:r>
            <a:r>
              <a:rPr lang="en-US" sz="1800"/>
              <a:t> </a:t>
            </a:r>
            <a:endParaRPr lang="en-US" sz="1800" dirty="0"/>
          </a:p>
        </p:txBody>
      </p:sp>
    </p:spTree>
    <p:extLst>
      <p:ext uri="{BB962C8B-B14F-4D97-AF65-F5344CB8AC3E}">
        <p14:creationId xmlns:p14="http://schemas.microsoft.com/office/powerpoint/2010/main" val="2281742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GapLeavePOut — Time Series Cross-Validation 0.1.3 documentation">
            <a:extLst>
              <a:ext uri="{FF2B5EF4-FFF2-40B4-BE49-F238E27FC236}">
                <a16:creationId xmlns:a16="http://schemas.microsoft.com/office/drawing/2014/main" id="{28083B80-DFF3-BE13-647A-EC0E990490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5200" y="496991"/>
            <a:ext cx="6006425" cy="278479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Leave P Out Cross-Validation</a:t>
            </a:r>
            <a:endParaRPr lang="en-US" dirty="0">
              <a:solidFill>
                <a:srgbClr val="04B452"/>
              </a:solidFill>
            </a:endParaRPr>
          </a:p>
        </p:txBody>
      </p:sp>
      <p:sp>
        <p:nvSpPr>
          <p:cNvPr id="3" name="Content Placeholder 2"/>
          <p:cNvSpPr>
            <a:spLocks noGrp="1"/>
          </p:cNvSpPr>
          <p:nvPr>
            <p:ph idx="1"/>
          </p:nvPr>
        </p:nvSpPr>
        <p:spPr>
          <a:xfrm>
            <a:off x="218062" y="3207798"/>
            <a:ext cx="10424799" cy="2940017"/>
          </a:xfrm>
        </p:spPr>
        <p:txBody>
          <a:bodyPr>
            <a:noAutofit/>
          </a:bodyPr>
          <a:lstStyle/>
          <a:p>
            <a:r>
              <a:rPr lang="en-US" sz="2000"/>
              <a:t>When using this exhaustive method, we take p number of points out from the total number of data points in the dataset(say n). </a:t>
            </a:r>
          </a:p>
          <a:p>
            <a:endParaRPr lang="en-US" sz="2000"/>
          </a:p>
          <a:p>
            <a:r>
              <a:rPr lang="en-US" sz="2000"/>
              <a:t>While training the model we train it on these (n – p) data points and test the model on p data points. </a:t>
            </a:r>
          </a:p>
          <a:p>
            <a:endParaRPr lang="en-US" sz="2000"/>
          </a:p>
          <a:p>
            <a:r>
              <a:rPr lang="en-US" sz="2000"/>
              <a:t>We repeat this process for all the possible combinations of p from the original dataset. </a:t>
            </a:r>
          </a:p>
          <a:p>
            <a:endParaRPr lang="en-US" sz="2000"/>
          </a:p>
          <a:p>
            <a:r>
              <a:rPr lang="en-US" sz="2000"/>
              <a:t>Then to get the final accuracy, we average the accuracies from all these iterations.</a:t>
            </a:r>
            <a:endParaRPr lang="en-US" sz="2000" dirty="0"/>
          </a:p>
        </p:txBody>
      </p:sp>
      <p:sp>
        <p:nvSpPr>
          <p:cNvPr id="4" name="Slide Number Placeholder 3"/>
          <p:cNvSpPr>
            <a:spLocks noGrp="1"/>
          </p:cNvSpPr>
          <p:nvPr>
            <p:ph type="sldNum" sz="quarter" idx="12"/>
          </p:nvPr>
        </p:nvSpPr>
        <p:spPr/>
        <p:txBody>
          <a:bodyPr/>
          <a:lstStyle/>
          <a:p>
            <a:fld id="{7957FF81-3E34-4073-BF50-FE78B3EBEE2E}" type="slidenum">
              <a:rPr lang="en-US" smtClean="0"/>
              <a:t>21</a:t>
            </a:fld>
            <a:endParaRPr lang="en-US"/>
          </a:p>
        </p:txBody>
      </p:sp>
    </p:spTree>
    <p:extLst>
      <p:ext uri="{BB962C8B-B14F-4D97-AF65-F5344CB8AC3E}">
        <p14:creationId xmlns:p14="http://schemas.microsoft.com/office/powerpoint/2010/main" val="332193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Leave One Out Cross-Validation (LOOCV)</a:t>
            </a:r>
            <a:endParaRPr lang="en-US" dirty="0">
              <a:solidFill>
                <a:srgbClr val="04B452"/>
              </a:solidFill>
            </a:endParaRPr>
          </a:p>
        </p:txBody>
      </p:sp>
      <p:sp>
        <p:nvSpPr>
          <p:cNvPr id="3" name="Content Placeholder 2"/>
          <p:cNvSpPr>
            <a:spLocks noGrp="1"/>
          </p:cNvSpPr>
          <p:nvPr>
            <p:ph idx="1"/>
          </p:nvPr>
        </p:nvSpPr>
        <p:spPr>
          <a:xfrm>
            <a:off x="142648" y="4575258"/>
            <a:ext cx="12049352" cy="2940017"/>
          </a:xfrm>
        </p:spPr>
        <p:txBody>
          <a:bodyPr>
            <a:normAutofit/>
          </a:bodyPr>
          <a:lstStyle/>
          <a:p>
            <a:r>
              <a:rPr lang="en-US" sz="2400"/>
              <a:t>Leave P Out Cross-Validation when P is 1</a:t>
            </a:r>
          </a:p>
          <a:p>
            <a:r>
              <a:rPr lang="en-US" sz="2400"/>
              <a:t>In each iteration, model is built using (N-1) instances leaving 1 out. The Nth instance is used to test the model.</a:t>
            </a:r>
          </a:p>
          <a:p>
            <a:r>
              <a:rPr lang="en-US" sz="2400"/>
              <a:t>Computationally very expensive.</a:t>
            </a:r>
            <a:endParaRPr lang="en-US" sz="2400" dirty="0"/>
          </a:p>
        </p:txBody>
      </p:sp>
      <p:sp>
        <p:nvSpPr>
          <p:cNvPr id="4" name="Slide Number Placeholder 3"/>
          <p:cNvSpPr>
            <a:spLocks noGrp="1"/>
          </p:cNvSpPr>
          <p:nvPr>
            <p:ph type="sldNum" sz="quarter" idx="12"/>
          </p:nvPr>
        </p:nvSpPr>
        <p:spPr/>
        <p:txBody>
          <a:bodyPr/>
          <a:lstStyle/>
          <a:p>
            <a:fld id="{7957FF81-3E34-4073-BF50-FE78B3EBEE2E}" type="slidenum">
              <a:rPr lang="en-US" smtClean="0"/>
              <a:t>22</a:t>
            </a:fld>
            <a:endParaRPr lang="en-US"/>
          </a:p>
        </p:txBody>
      </p:sp>
      <p:pic>
        <p:nvPicPr>
          <p:cNvPr id="5122" name="Picture 2" descr="Teaching">
            <a:extLst>
              <a:ext uri="{FF2B5EF4-FFF2-40B4-BE49-F238E27FC236}">
                <a16:creationId xmlns:a16="http://schemas.microsoft.com/office/drawing/2014/main" id="{B8FC08B8-6C0E-F4A0-FA3E-648AF41B3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861" y="1096962"/>
            <a:ext cx="8491795" cy="3339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CE0B9FA-B5CE-D42C-4E56-209284824C16}"/>
              </a:ext>
            </a:extLst>
          </p:cNvPr>
          <p:cNvSpPr txBox="1"/>
          <p:nvPr/>
        </p:nvSpPr>
        <p:spPr>
          <a:xfrm>
            <a:off x="142648" y="6356351"/>
            <a:ext cx="11046968" cy="369332"/>
          </a:xfrm>
          <a:prstGeom prst="rect">
            <a:avLst/>
          </a:prstGeom>
          <a:noFill/>
        </p:spPr>
        <p:txBody>
          <a:bodyPr wrap="square">
            <a:spAutoFit/>
          </a:bodyPr>
          <a:lstStyle/>
          <a:p>
            <a:r>
              <a:rPr lang="en-US">
                <a:hlinkClick r:id="rId3"/>
              </a:rPr>
              <a:t>https://www.analyticsvidhya.com/blog/2021/05/importance-of-cross-validation-are-evaluation-metrics-enough/</a:t>
            </a:r>
            <a:r>
              <a:rPr lang="en-US"/>
              <a:t> </a:t>
            </a:r>
          </a:p>
        </p:txBody>
      </p:sp>
    </p:spTree>
    <p:extLst>
      <p:ext uri="{BB962C8B-B14F-4D97-AF65-F5344CB8AC3E}">
        <p14:creationId xmlns:p14="http://schemas.microsoft.com/office/powerpoint/2010/main" val="411124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Rolling Cross-Validation for Time Series </a:t>
            </a:r>
            <a:endParaRPr lang="en-US" dirty="0">
              <a:solidFill>
                <a:srgbClr val="04B452"/>
              </a:solidFill>
            </a:endParaRPr>
          </a:p>
        </p:txBody>
      </p:sp>
      <p:sp>
        <p:nvSpPr>
          <p:cNvPr id="3" name="Content Placeholder 2"/>
          <p:cNvSpPr>
            <a:spLocks noGrp="1"/>
          </p:cNvSpPr>
          <p:nvPr>
            <p:ph idx="1"/>
          </p:nvPr>
        </p:nvSpPr>
        <p:spPr>
          <a:xfrm>
            <a:off x="142648" y="4575258"/>
            <a:ext cx="12049352" cy="2940017"/>
          </a:xfrm>
        </p:spPr>
        <p:txBody>
          <a:bodyPr>
            <a:normAutofit/>
          </a:bodyPr>
          <a:lstStyle/>
          <a:p>
            <a:r>
              <a:rPr lang="en-US" sz="2400"/>
              <a:t>Rolling Forward = Walk Forward = Rolling Cross Validation</a:t>
            </a:r>
          </a:p>
          <a:p>
            <a:r>
              <a:rPr lang="en-US" sz="2400"/>
              <a:t>Applicale only for the Time Series data</a:t>
            </a:r>
            <a:endParaRPr lang="en-US" sz="2400" dirty="0"/>
          </a:p>
        </p:txBody>
      </p:sp>
      <p:sp>
        <p:nvSpPr>
          <p:cNvPr id="4" name="Slide Number Placeholder 3"/>
          <p:cNvSpPr>
            <a:spLocks noGrp="1"/>
          </p:cNvSpPr>
          <p:nvPr>
            <p:ph type="sldNum" sz="quarter" idx="12"/>
          </p:nvPr>
        </p:nvSpPr>
        <p:spPr/>
        <p:txBody>
          <a:bodyPr/>
          <a:lstStyle/>
          <a:p>
            <a:fld id="{7957FF81-3E34-4073-BF50-FE78B3EBEE2E}" type="slidenum">
              <a:rPr lang="en-US" smtClean="0"/>
              <a:t>23</a:t>
            </a:fld>
            <a:endParaRPr lang="en-US"/>
          </a:p>
        </p:txBody>
      </p:sp>
      <p:sp>
        <p:nvSpPr>
          <p:cNvPr id="6" name="TextBox 5">
            <a:extLst>
              <a:ext uri="{FF2B5EF4-FFF2-40B4-BE49-F238E27FC236}">
                <a16:creationId xmlns:a16="http://schemas.microsoft.com/office/drawing/2014/main" id="{ACE0B9FA-B5CE-D42C-4E56-209284824C16}"/>
              </a:ext>
            </a:extLst>
          </p:cNvPr>
          <p:cNvSpPr txBox="1"/>
          <p:nvPr/>
        </p:nvSpPr>
        <p:spPr>
          <a:xfrm>
            <a:off x="142648" y="6075145"/>
            <a:ext cx="11046968" cy="646331"/>
          </a:xfrm>
          <a:prstGeom prst="rect">
            <a:avLst/>
          </a:prstGeom>
          <a:noFill/>
        </p:spPr>
        <p:txBody>
          <a:bodyPr wrap="square">
            <a:spAutoFit/>
          </a:bodyPr>
          <a:lstStyle/>
          <a:p>
            <a:r>
              <a:rPr lang="en-US">
                <a:hlinkClick r:id="rId2"/>
              </a:rPr>
              <a:t>https://tscv.readthedocs.io/en/latest/tutorial/roll_forward.html</a:t>
            </a:r>
            <a:endParaRPr lang="en-US"/>
          </a:p>
          <a:p>
            <a:r>
              <a:rPr lang="en-US">
                <a:hlinkClick r:id="rId3"/>
              </a:rPr>
              <a:t>https://www.mygreatlearning.com/blog/cross-validation/</a:t>
            </a:r>
            <a:r>
              <a:rPr lang="en-US"/>
              <a:t>  </a:t>
            </a:r>
          </a:p>
        </p:txBody>
      </p:sp>
      <p:sp>
        <p:nvSpPr>
          <p:cNvPr id="5" name="AutoShape 2">
            <a:extLst>
              <a:ext uri="{FF2B5EF4-FFF2-40B4-BE49-F238E27FC236}">
                <a16:creationId xmlns:a16="http://schemas.microsoft.com/office/drawing/2014/main" id="{36ACD8A0-A36A-8691-B4DA-7A9559286DE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C529DD3C-343E-520B-2280-D35B2AF75623}"/>
              </a:ext>
            </a:extLst>
          </p:cNvPr>
          <p:cNvPicPr>
            <a:picLocks noChangeAspect="1"/>
          </p:cNvPicPr>
          <p:nvPr/>
        </p:nvPicPr>
        <p:blipFill>
          <a:blip r:embed="rId4"/>
          <a:stretch>
            <a:fillRect/>
          </a:stretch>
        </p:blipFill>
        <p:spPr>
          <a:xfrm>
            <a:off x="158677" y="1073205"/>
            <a:ext cx="5327723" cy="2419074"/>
          </a:xfrm>
          <a:prstGeom prst="rect">
            <a:avLst/>
          </a:prstGeom>
        </p:spPr>
      </p:pic>
      <p:pic>
        <p:nvPicPr>
          <p:cNvPr id="10" name="Picture 9">
            <a:extLst>
              <a:ext uri="{FF2B5EF4-FFF2-40B4-BE49-F238E27FC236}">
                <a16:creationId xmlns:a16="http://schemas.microsoft.com/office/drawing/2014/main" id="{4B25A99B-94F4-1222-5B95-39042BD63B30}"/>
              </a:ext>
            </a:extLst>
          </p:cNvPr>
          <p:cNvPicPr>
            <a:picLocks noChangeAspect="1"/>
          </p:cNvPicPr>
          <p:nvPr/>
        </p:nvPicPr>
        <p:blipFill>
          <a:blip r:embed="rId5"/>
          <a:stretch>
            <a:fillRect/>
          </a:stretch>
        </p:blipFill>
        <p:spPr>
          <a:xfrm>
            <a:off x="6393567" y="1240361"/>
            <a:ext cx="5181600" cy="3057525"/>
          </a:xfrm>
          <a:prstGeom prst="rect">
            <a:avLst/>
          </a:prstGeom>
        </p:spPr>
      </p:pic>
    </p:spTree>
    <p:extLst>
      <p:ext uri="{BB962C8B-B14F-4D97-AF65-F5344CB8AC3E}">
        <p14:creationId xmlns:p14="http://schemas.microsoft.com/office/powerpoint/2010/main" val="3370955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Summary</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a:bodyPr>
          <a:lstStyle/>
          <a:p>
            <a:r>
              <a:rPr lang="en-US" sz="2400"/>
              <a:t>Cross-Validation techniques to address Overfitting.</a:t>
            </a:r>
          </a:p>
          <a:p>
            <a:r>
              <a:rPr lang="en-US" sz="2400"/>
              <a:t>Cross-Validation to measure the accuracy (performance measure) of a model.</a:t>
            </a:r>
          </a:p>
          <a:p>
            <a:endParaRPr lang="en-US" sz="2400"/>
          </a:p>
          <a:p>
            <a:r>
              <a:rPr lang="en-US" sz="2400"/>
              <a:t>Let us explore the colab notebook for Cross-Validation</a:t>
            </a:r>
          </a:p>
        </p:txBody>
      </p:sp>
      <p:sp>
        <p:nvSpPr>
          <p:cNvPr id="4" name="Slide Number Placeholder 3"/>
          <p:cNvSpPr>
            <a:spLocks noGrp="1"/>
          </p:cNvSpPr>
          <p:nvPr>
            <p:ph type="sldNum" sz="quarter" idx="12"/>
          </p:nvPr>
        </p:nvSpPr>
        <p:spPr/>
        <p:txBody>
          <a:bodyPr/>
          <a:lstStyle/>
          <a:p>
            <a:fld id="{7957FF81-3E34-4073-BF50-FE78B3EBEE2E}" type="slidenum">
              <a:rPr lang="en-US" smtClean="0"/>
              <a:t>24</a:t>
            </a:fld>
            <a:endParaRPr lang="en-US"/>
          </a:p>
        </p:txBody>
      </p:sp>
    </p:spTree>
    <p:extLst>
      <p:ext uri="{BB962C8B-B14F-4D97-AF65-F5344CB8AC3E}">
        <p14:creationId xmlns:p14="http://schemas.microsoft.com/office/powerpoint/2010/main" val="170670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12A27-2E3B-D880-0257-DD886DC41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B5581-A8D9-E924-9345-88905F028D1A}"/>
              </a:ext>
            </a:extLst>
          </p:cNvPr>
          <p:cNvSpPr>
            <a:spLocks noGrp="1"/>
          </p:cNvSpPr>
          <p:nvPr>
            <p:ph type="title"/>
          </p:nvPr>
        </p:nvSpPr>
        <p:spPr>
          <a:xfrm>
            <a:off x="0" y="10687"/>
            <a:ext cx="10972800" cy="721149"/>
          </a:xfrm>
        </p:spPr>
        <p:txBody>
          <a:bodyPr>
            <a:normAutofit fontScale="90000"/>
          </a:bodyPr>
          <a:lstStyle/>
          <a:p>
            <a:pPr algn="l"/>
            <a:r>
              <a:rPr lang="en-US">
                <a:solidFill>
                  <a:srgbClr val="04B452"/>
                </a:solidFill>
              </a:rPr>
              <a:t>Summary</a:t>
            </a:r>
            <a:endParaRPr lang="en-US" dirty="0">
              <a:solidFill>
                <a:srgbClr val="04B452"/>
              </a:solidFill>
            </a:endParaRPr>
          </a:p>
        </p:txBody>
      </p:sp>
      <p:sp>
        <p:nvSpPr>
          <p:cNvPr id="3" name="Content Placeholder 2">
            <a:extLst>
              <a:ext uri="{FF2B5EF4-FFF2-40B4-BE49-F238E27FC236}">
                <a16:creationId xmlns:a16="http://schemas.microsoft.com/office/drawing/2014/main" id="{0B238A5D-2BA3-35AF-3D8E-4829D680F0C9}"/>
              </a:ext>
            </a:extLst>
          </p:cNvPr>
          <p:cNvSpPr>
            <a:spLocks noGrp="1"/>
          </p:cNvSpPr>
          <p:nvPr>
            <p:ph idx="1"/>
          </p:nvPr>
        </p:nvSpPr>
        <p:spPr>
          <a:xfrm>
            <a:off x="166540" y="1235076"/>
            <a:ext cx="11739514" cy="4525963"/>
          </a:xfrm>
        </p:spPr>
        <p:txBody>
          <a:bodyPr>
            <a:normAutofit/>
          </a:bodyPr>
          <a:lstStyle/>
          <a:p>
            <a:r>
              <a:rPr lang="en-US" sz="2400" dirty="0" err="1"/>
              <a:t>StatQuest</a:t>
            </a:r>
            <a:r>
              <a:rPr lang="en-US" sz="2400" dirty="0"/>
              <a:t>: Cross-Validation Video</a:t>
            </a:r>
          </a:p>
          <a:p>
            <a:pPr marL="0" indent="0">
              <a:buNone/>
            </a:pPr>
            <a:r>
              <a:rPr lang="en-US" sz="2400" dirty="0">
                <a:hlinkClick r:id="rId2"/>
              </a:rPr>
              <a:t>https://www.youtube.com/watch?v=fSytzGwwBVw</a:t>
            </a:r>
            <a:r>
              <a:rPr lang="en-US" sz="2400" dirty="0"/>
              <a:t> </a:t>
            </a:r>
          </a:p>
        </p:txBody>
      </p:sp>
      <p:sp>
        <p:nvSpPr>
          <p:cNvPr id="4" name="Slide Number Placeholder 3">
            <a:extLst>
              <a:ext uri="{FF2B5EF4-FFF2-40B4-BE49-F238E27FC236}">
                <a16:creationId xmlns:a16="http://schemas.microsoft.com/office/drawing/2014/main" id="{A35929B5-8DF1-F3E9-32D4-A5DE9BBB0D97}"/>
              </a:ext>
            </a:extLst>
          </p:cNvPr>
          <p:cNvSpPr>
            <a:spLocks noGrp="1"/>
          </p:cNvSpPr>
          <p:nvPr>
            <p:ph type="sldNum" sz="quarter" idx="12"/>
          </p:nvPr>
        </p:nvSpPr>
        <p:spPr/>
        <p:txBody>
          <a:bodyPr/>
          <a:lstStyle/>
          <a:p>
            <a:fld id="{7957FF81-3E34-4073-BF50-FE78B3EBEE2E}" type="slidenum">
              <a:rPr lang="en-US" smtClean="0"/>
              <a:t>25</a:t>
            </a:fld>
            <a:endParaRPr lang="en-US"/>
          </a:p>
        </p:txBody>
      </p:sp>
    </p:spTree>
    <p:extLst>
      <p:ext uri="{BB962C8B-B14F-4D97-AF65-F5344CB8AC3E}">
        <p14:creationId xmlns:p14="http://schemas.microsoft.com/office/powerpoint/2010/main" val="2422516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7503" y="1798431"/>
            <a:ext cx="7772400" cy="1470025"/>
          </a:xfrm>
        </p:spPr>
        <p:txBody>
          <a:bodyPr>
            <a:normAutofit fontScale="90000"/>
          </a:bodyPr>
          <a:lstStyle/>
          <a:p>
            <a:r>
              <a:rPr lang="en-US" sz="4800" dirty="0">
                <a:solidFill>
                  <a:srgbClr val="04B452"/>
                </a:solidFill>
              </a:rPr>
              <a:t>Any Questions?</a:t>
            </a:r>
            <a:br>
              <a:rPr lang="en-US" sz="4800" dirty="0">
                <a:solidFill>
                  <a:srgbClr val="04B452"/>
                </a:solidFill>
              </a:rPr>
            </a:br>
            <a:br>
              <a:rPr lang="en-US" sz="4800" dirty="0">
                <a:solidFill>
                  <a:srgbClr val="04B452"/>
                </a:solidFill>
              </a:rPr>
            </a:br>
            <a:r>
              <a:rPr lang="en-US" sz="4800" dirty="0">
                <a:solidFill>
                  <a:srgbClr val="04B452"/>
                </a:solidFill>
              </a:rPr>
              <a:t>Thank You.</a:t>
            </a:r>
          </a:p>
        </p:txBody>
      </p:sp>
      <p:sp>
        <p:nvSpPr>
          <p:cNvPr id="4" name="TextBox 4">
            <a:extLst>
              <a:ext uri="{FF2B5EF4-FFF2-40B4-BE49-F238E27FC236}">
                <a16:creationId xmlns:a16="http://schemas.microsoft.com/office/drawing/2014/main" id="{205CBE0D-6E88-49A9-9F78-FA8F4A2A4679}"/>
              </a:ext>
            </a:extLst>
          </p:cNvPr>
          <p:cNvSpPr txBox="1"/>
          <p:nvPr/>
        </p:nvSpPr>
        <p:spPr>
          <a:xfrm>
            <a:off x="3008563" y="4767640"/>
            <a:ext cx="18466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5" name="TextBox 6">
            <a:extLst>
              <a:ext uri="{FF2B5EF4-FFF2-40B4-BE49-F238E27FC236}">
                <a16:creationId xmlns:a16="http://schemas.microsoft.com/office/drawing/2014/main" id="{9C07F57A-79B6-40CD-A6E6-C4D610B69EBC}"/>
              </a:ext>
            </a:extLst>
          </p:cNvPr>
          <p:cNvSpPr txBox="1"/>
          <p:nvPr/>
        </p:nvSpPr>
        <p:spPr>
          <a:xfrm>
            <a:off x="3008563" y="4767640"/>
            <a:ext cx="18466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f75f480-7803-4ee9-bb54-84d0635fdbe7}" enabled="1" method="Privilege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1184</TotalTime>
  <Words>1876</Words>
  <Application>Microsoft Office PowerPoint</Application>
  <PresentationFormat>Widescreen</PresentationFormat>
  <Paragraphs>232</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Wingdings</vt:lpstr>
      <vt:lpstr>Office Theme</vt:lpstr>
      <vt:lpstr>PowerPoint Presentation</vt:lpstr>
      <vt:lpstr>Machine Learning Process</vt:lpstr>
      <vt:lpstr>Training vs Test vs Validation Sets</vt:lpstr>
      <vt:lpstr>Model Performance Assessment</vt:lpstr>
      <vt:lpstr>Model Performance Assessment: Examples #1</vt:lpstr>
      <vt:lpstr>Model Performance Assessment: Examples #2</vt:lpstr>
      <vt:lpstr>Model Performance Assessment: Examples #3</vt:lpstr>
      <vt:lpstr>Model Performance Assessment: Examples #4</vt:lpstr>
      <vt:lpstr>Model Performance Assessment: Examples #5</vt:lpstr>
      <vt:lpstr>Model Performance Assessment: Examples #6</vt:lpstr>
      <vt:lpstr>What is the problem we are trying to solve?</vt:lpstr>
      <vt:lpstr>Cross Validation</vt:lpstr>
      <vt:lpstr>Types of Cross-Validation</vt:lpstr>
      <vt:lpstr>Holdout Cross Validation</vt:lpstr>
      <vt:lpstr>K-Fold Cross Validation</vt:lpstr>
      <vt:lpstr>K-Fold Cross Validation</vt:lpstr>
      <vt:lpstr>K-Fold Cross Validation</vt:lpstr>
      <vt:lpstr>Stratified K-Fold Cross Validation</vt:lpstr>
      <vt:lpstr>Stratified K-Fold Cross Validation</vt:lpstr>
      <vt:lpstr>Stratified K-Fold Cross Validation</vt:lpstr>
      <vt:lpstr>Leave P Out Cross-Validation</vt:lpstr>
      <vt:lpstr>Leave One Out Cross-Validation (LOOCV)</vt:lpstr>
      <vt:lpstr>Rolling Cross-Validation for Time Series </vt:lpstr>
      <vt:lpstr>Summary</vt:lpstr>
      <vt:lpstr>Summary</vt:lpstr>
      <vt:lpstr>Any Questions?  Thank You.</vt:lpstr>
    </vt:vector>
  </TitlesOfParts>
  <Company>Fabric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Harwood</dc:creator>
  <cp:keywords>C_Unrestricted</cp:keywords>
  <cp:lastModifiedBy>Jasthi, Jasthi (DI SW PLM LCS DEVOPS)</cp:lastModifiedBy>
  <cp:revision>83</cp:revision>
  <dcterms:created xsi:type="dcterms:W3CDTF">2014-09-03T22:10:43Z</dcterms:created>
  <dcterms:modified xsi:type="dcterms:W3CDTF">2026-02-07T02:07:20Z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 Confidentiality">
    <vt:lpwstr>Unrestricted</vt:lpwstr>
  </property>
  <property fmtid="{D5CDD505-2E9C-101B-9397-08002B2CF9AE}" pid="3" name="sodocoClasLang">
    <vt:lpwstr>Unrestricted</vt:lpwstr>
  </property>
  <property fmtid="{D5CDD505-2E9C-101B-9397-08002B2CF9AE}" pid="4" name="sodocoClasLangId">
    <vt:i4>0</vt:i4>
  </property>
  <property fmtid="{D5CDD505-2E9C-101B-9397-08002B2CF9AE}" pid="5" name="sodocoClasId">
    <vt:i4>0</vt:i4>
  </property>
  <property fmtid="{D5CDD505-2E9C-101B-9397-08002B2CF9AE}" pid="6" name="MSIP_Label_6f75f480-7803-4ee9-bb54-84d0635fdbe7_Enabled">
    <vt:lpwstr>true</vt:lpwstr>
  </property>
  <property fmtid="{D5CDD505-2E9C-101B-9397-08002B2CF9AE}" pid="7" name="MSIP_Label_6f75f480-7803-4ee9-bb54-84d0635fdbe7_SetDate">
    <vt:lpwstr>2023-10-31T23:34:33Z</vt:lpwstr>
  </property>
  <property fmtid="{D5CDD505-2E9C-101B-9397-08002B2CF9AE}" pid="8" name="MSIP_Label_6f75f480-7803-4ee9-bb54-84d0635fdbe7_Method">
    <vt:lpwstr>Privileged</vt:lpwstr>
  </property>
  <property fmtid="{D5CDD505-2E9C-101B-9397-08002B2CF9AE}" pid="9" name="MSIP_Label_6f75f480-7803-4ee9-bb54-84d0635fdbe7_Name">
    <vt:lpwstr>unrestricted</vt:lpwstr>
  </property>
  <property fmtid="{D5CDD505-2E9C-101B-9397-08002B2CF9AE}" pid="10" name="MSIP_Label_6f75f480-7803-4ee9-bb54-84d0635fdbe7_SiteId">
    <vt:lpwstr>38ae3bcd-9579-4fd4-adda-b42e1495d55a</vt:lpwstr>
  </property>
  <property fmtid="{D5CDD505-2E9C-101B-9397-08002B2CF9AE}" pid="11" name="MSIP_Label_6f75f480-7803-4ee9-bb54-84d0635fdbe7_ActionId">
    <vt:lpwstr>5430a409-3ccc-4c9c-865b-e07439b2d2a8</vt:lpwstr>
  </property>
  <property fmtid="{D5CDD505-2E9C-101B-9397-08002B2CF9AE}" pid="12" name="MSIP_Label_6f75f480-7803-4ee9-bb54-84d0635fdbe7_ContentBits">
    <vt:lpwstr>0</vt:lpwstr>
  </property>
  <property fmtid="{D5CDD505-2E9C-101B-9397-08002B2CF9AE}" pid="13" name="Document_Confidentiality">
    <vt:lpwstr>Unrestricted</vt:lpwstr>
  </property>
</Properties>
</file>