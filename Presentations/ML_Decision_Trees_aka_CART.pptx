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69" r:id="rId2"/>
    <p:sldId id="259" r:id="rId3"/>
    <p:sldId id="337" r:id="rId4"/>
    <p:sldId id="338" r:id="rId5"/>
    <p:sldId id="339" r:id="rId6"/>
    <p:sldId id="340" r:id="rId7"/>
    <p:sldId id="341" r:id="rId8"/>
    <p:sldId id="342" r:id="rId9"/>
    <p:sldId id="345" r:id="rId10"/>
    <p:sldId id="346" r:id="rId11"/>
    <p:sldId id="348" r:id="rId12"/>
    <p:sldId id="1653" r:id="rId13"/>
    <p:sldId id="1644" r:id="rId14"/>
    <p:sldId id="354" r:id="rId15"/>
    <p:sldId id="344" r:id="rId16"/>
    <p:sldId id="347" r:id="rId17"/>
    <p:sldId id="25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4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0" d="100"/>
          <a:sy n="70" d="100"/>
        </p:scale>
        <p:origin x="1138" y="278"/>
      </p:cViewPr>
      <p:guideLst>
        <p:guide orient="horz" pos="2160"/>
        <p:guide pos="3796"/>
      </p:guideLst>
    </p:cSldViewPr>
  </p:slideViewPr>
  <p:notesTextViewPr>
    <p:cViewPr>
      <p:scale>
        <a:sx n="100" d="100"/>
        <a:sy n="100" d="100"/>
      </p:scale>
      <p:origin x="0" y="0"/>
    </p:cViewPr>
  </p:notesTextViewPr>
  <p:sorterViewPr>
    <p:cViewPr varScale="1">
      <p:scale>
        <a:sx n="100" d="100"/>
        <a:sy n="100" d="100"/>
      </p:scale>
      <p:origin x="0" y="-13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9A787-2230-4FF8-8817-159D6BD7B5AE}"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8C940-6784-4F9D-A258-868AAE24D092}" type="slidenum">
              <a:rPr lang="en-US" smtClean="0"/>
              <a:t>‹#›</a:t>
            </a:fld>
            <a:endParaRPr lang="en-US"/>
          </a:p>
        </p:txBody>
      </p:sp>
    </p:spTree>
    <p:extLst>
      <p:ext uri="{BB962C8B-B14F-4D97-AF65-F5344CB8AC3E}">
        <p14:creationId xmlns:p14="http://schemas.microsoft.com/office/powerpoint/2010/main" val="338385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hyperlink" Target="mailto:Siva.Jasthi@metrostate.edu"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TextBox 9">
            <a:extLst>
              <a:ext uri="{FF2B5EF4-FFF2-40B4-BE49-F238E27FC236}">
                <a16:creationId xmlns:a16="http://schemas.microsoft.com/office/drawing/2014/main" id="{E26F8C1F-669D-4F69-9022-AAB01B7F122A}"/>
              </a:ext>
            </a:extLst>
          </p:cNvPr>
          <p:cNvSpPr txBox="1"/>
          <p:nvPr userDrawn="1"/>
        </p:nvSpPr>
        <p:spPr>
          <a:xfrm>
            <a:off x="1" y="6560598"/>
            <a:ext cx="12191999"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hlinkClick r:id="rId2"/>
              </a:rPr>
              <a:t>Siva.Jasthi@metrostate.edu</a:t>
            </a:r>
            <a:r>
              <a:rPr lang="en-US" sz="1200" dirty="0"/>
              <a:t>                  ICS 352 – Machine Learning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1/10/2026</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501589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Siva.Jasthi@metrostate.edu</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ICS 352 – Machine Learning ()</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7549-C8F9-8740-97B0-14CD78FB0450}"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edium.com/geekculture/applying-7-classification-algorithms-on-the-titanic-dataset-278ef222b53c"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learnbymarketing.com/481/decision-tree-flavors-gini-info-gain/"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learnbymarketing.com/481/decision-tree-flavors-gini-info-gain/"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medium.com/geekculture/applying-7-classification-algorithms-on-the-titanic-dataset-278ef222b53c" TargetMode="External"/><Relationship Id="rId4" Type="http://schemas.openxmlformats.org/officeDocument/2006/relationships/hyperlink" Target="https://www.kdnuggets.com/2020/01/decision-tree-algorithm-explained.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9BF4AB0-9623-4F15-9723-5E7FE667B513}"/>
              </a:ext>
            </a:extLst>
          </p:cNvPr>
          <p:cNvSpPr>
            <a:spLocks noGrp="1"/>
          </p:cNvSpPr>
          <p:nvPr>
            <p:ph type="subTitle" idx="1"/>
          </p:nvPr>
        </p:nvSpPr>
        <p:spPr>
          <a:xfrm>
            <a:off x="2183685" y="4968672"/>
            <a:ext cx="7516166" cy="1356787"/>
          </a:xfrm>
        </p:spPr>
        <p:txBody>
          <a:bodyPr>
            <a:normAutofit/>
          </a:bodyPr>
          <a:lstStyle/>
          <a:p>
            <a:pPr>
              <a:buClrTx/>
              <a:buSzTx/>
              <a:buFontTx/>
              <a:buNone/>
            </a:pPr>
            <a:r>
              <a:rPr lang="en-US" altLang="en-US" sz="2400" b="1" dirty="0"/>
              <a:t>Siva R Jasthi</a:t>
            </a:r>
            <a:endParaRPr lang="en-US" altLang="en-US" sz="2400" dirty="0"/>
          </a:p>
          <a:p>
            <a:pPr>
              <a:buClrTx/>
              <a:buSzTx/>
              <a:buFontTx/>
              <a:buNone/>
            </a:pPr>
            <a:r>
              <a:rPr lang="en-US" altLang="en-US" sz="2400" dirty="0"/>
              <a:t>Computer Science and Cybersecurity</a:t>
            </a:r>
          </a:p>
          <a:p>
            <a:pPr>
              <a:buClrTx/>
              <a:buSzTx/>
              <a:buFontTx/>
              <a:buNone/>
            </a:pPr>
            <a:r>
              <a:rPr lang="en-US" altLang="en-US" sz="2400" dirty="0"/>
              <a:t>Metropolitan State University</a:t>
            </a:r>
          </a:p>
          <a:p>
            <a:endParaRPr lang="en-US" sz="2400" b="1" dirty="0">
              <a:solidFill>
                <a:srgbClr val="04B452"/>
              </a:solidFill>
            </a:endParaRPr>
          </a:p>
        </p:txBody>
      </p:sp>
      <p:sp>
        <p:nvSpPr>
          <p:cNvPr id="9" name="Subtitle 2">
            <a:extLst>
              <a:ext uri="{FF2B5EF4-FFF2-40B4-BE49-F238E27FC236}">
                <a16:creationId xmlns:a16="http://schemas.microsoft.com/office/drawing/2014/main" id="{F9471A7B-0F91-466C-9FCD-728090F5A931}"/>
              </a:ext>
            </a:extLst>
          </p:cNvPr>
          <p:cNvSpPr txBox="1">
            <a:spLocks/>
          </p:cNvSpPr>
          <p:nvPr/>
        </p:nvSpPr>
        <p:spPr>
          <a:xfrm>
            <a:off x="1774357" y="2837194"/>
            <a:ext cx="8334823" cy="1196560"/>
          </a:xfrm>
          <a:prstGeom prst="rect">
            <a:avLst/>
          </a:prstGeom>
          <a:solidFill>
            <a:srgbClr val="00B050"/>
          </a:solidFill>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400" b="1">
                <a:solidFill>
                  <a:schemeClr val="bg1"/>
                </a:solidFill>
              </a:rPr>
              <a:t>Decision Trees</a:t>
            </a:r>
          </a:p>
          <a:p>
            <a:r>
              <a:rPr lang="en-US" sz="2400" b="1">
                <a:solidFill>
                  <a:schemeClr val="bg1"/>
                </a:solidFill>
              </a:rPr>
              <a:t>Classification and Regression Trees</a:t>
            </a:r>
            <a:endParaRPr lang="en-US" sz="2400" b="1" dirty="0">
              <a:solidFill>
                <a:schemeClr val="bg1"/>
              </a:solidFill>
            </a:endParaRPr>
          </a:p>
        </p:txBody>
      </p:sp>
      <p:graphicFrame>
        <p:nvGraphicFramePr>
          <p:cNvPr id="4" name="Table 5">
            <a:extLst>
              <a:ext uri="{FF2B5EF4-FFF2-40B4-BE49-F238E27FC236}">
                <a16:creationId xmlns:a16="http://schemas.microsoft.com/office/drawing/2014/main" id="{78989B7E-3B2D-44AE-8C5E-703EF42AD523}"/>
              </a:ext>
            </a:extLst>
          </p:cNvPr>
          <p:cNvGraphicFramePr>
            <a:graphicFrameLocks noGrp="1"/>
          </p:cNvGraphicFramePr>
          <p:nvPr>
            <p:extLst>
              <p:ext uri="{D42A27DB-BD31-4B8C-83A1-F6EECF244321}">
                <p14:modId xmlns:p14="http://schemas.microsoft.com/office/powerpoint/2010/main" val="3274911705"/>
              </p:ext>
            </p:extLst>
          </p:nvPr>
        </p:nvGraphicFramePr>
        <p:xfrm>
          <a:off x="2032000" y="719666"/>
          <a:ext cx="8128000" cy="2123440"/>
        </p:xfrm>
        <a:graphic>
          <a:graphicData uri="http://schemas.openxmlformats.org/drawingml/2006/table">
            <a:tbl>
              <a:tblPr firstRow="1" bandRow="1">
                <a:tableStyleId>{5940675A-B579-460E-94D1-54222C63F5DA}</a:tableStyleId>
              </a:tblPr>
              <a:tblGrid>
                <a:gridCol w="1784626">
                  <a:extLst>
                    <a:ext uri="{9D8B030D-6E8A-4147-A177-3AD203B41FA5}">
                      <a16:colId xmlns:a16="http://schemas.microsoft.com/office/drawing/2014/main" val="2221937530"/>
                    </a:ext>
                  </a:extLst>
                </a:gridCol>
                <a:gridCol w="6343374">
                  <a:extLst>
                    <a:ext uri="{9D8B030D-6E8A-4147-A177-3AD203B41FA5}">
                      <a16:colId xmlns:a16="http://schemas.microsoft.com/office/drawing/2014/main" val="379968204"/>
                    </a:ext>
                  </a:extLst>
                </a:gridCol>
              </a:tblGrid>
              <a:tr h="370840">
                <a:tc>
                  <a:txBody>
                    <a:bodyPr/>
                    <a:lstStyle/>
                    <a:p>
                      <a:r>
                        <a:rPr lang="en-US" dirty="0"/>
                        <a:t>Course</a:t>
                      </a:r>
                    </a:p>
                  </a:txBody>
                  <a:tcPr/>
                </a:tc>
                <a:tc>
                  <a:txBody>
                    <a:bodyPr/>
                    <a:lstStyle/>
                    <a:p>
                      <a:r>
                        <a:rPr lang="en-US" dirty="0"/>
                        <a:t>Python ML (Python for Machine Learning)</a:t>
                      </a:r>
                    </a:p>
                  </a:txBody>
                  <a:tcPr/>
                </a:tc>
                <a:extLst>
                  <a:ext uri="{0D108BD9-81ED-4DB2-BD59-A6C34878D82A}">
                    <a16:rowId xmlns:a16="http://schemas.microsoft.com/office/drawing/2014/main" val="2642101462"/>
                  </a:ext>
                </a:extLst>
              </a:tr>
              <a:tr h="370840">
                <a:tc>
                  <a:txBody>
                    <a:bodyPr/>
                    <a:lstStyle/>
                    <a:p>
                      <a:r>
                        <a:rPr lang="en-US" dirty="0"/>
                        <a:t>Term</a:t>
                      </a:r>
                    </a:p>
                  </a:txBody>
                  <a:tcPr/>
                </a:tc>
                <a:tc>
                  <a:txBody>
                    <a:bodyPr/>
                    <a:lstStyle/>
                    <a:p>
                      <a:endParaRPr lang="en-US" dirty="0"/>
                    </a:p>
                  </a:txBody>
                  <a:tcPr/>
                </a:tc>
                <a:extLst>
                  <a:ext uri="{0D108BD9-81ED-4DB2-BD59-A6C34878D82A}">
                    <a16:rowId xmlns:a16="http://schemas.microsoft.com/office/drawing/2014/main" val="176277694"/>
                  </a:ext>
                </a:extLst>
              </a:tr>
              <a:tr h="370840">
                <a:tc>
                  <a:txBody>
                    <a:bodyPr/>
                    <a:lstStyle/>
                    <a:p>
                      <a:r>
                        <a:rPr lang="en-US" dirty="0"/>
                        <a:t>Week</a:t>
                      </a:r>
                    </a:p>
                  </a:txBody>
                  <a:tcPr/>
                </a:tc>
                <a:tc>
                  <a:txBody>
                    <a:bodyPr/>
                    <a:lstStyle/>
                    <a:p>
                      <a:endParaRPr lang="en-US" dirty="0"/>
                    </a:p>
                  </a:txBody>
                  <a:tcPr/>
                </a:tc>
                <a:extLst>
                  <a:ext uri="{0D108BD9-81ED-4DB2-BD59-A6C34878D82A}">
                    <a16:rowId xmlns:a16="http://schemas.microsoft.com/office/drawing/2014/main" val="1975050456"/>
                  </a:ext>
                </a:extLst>
              </a:tr>
              <a:tr h="370840">
                <a:tc>
                  <a:txBody>
                    <a:bodyPr/>
                    <a:lstStyle/>
                    <a:p>
                      <a:r>
                        <a:rPr lang="en-US" dirty="0"/>
                        <a:t>Date</a:t>
                      </a:r>
                    </a:p>
                  </a:txBody>
                  <a:tcPr/>
                </a:tc>
                <a:tc>
                  <a:txBody>
                    <a:bodyPr/>
                    <a:lstStyle/>
                    <a:p>
                      <a:endParaRPr lang="en-US" dirty="0"/>
                    </a:p>
                  </a:txBody>
                  <a:tcPr/>
                </a:tc>
                <a:extLst>
                  <a:ext uri="{0D108BD9-81ED-4DB2-BD59-A6C34878D82A}">
                    <a16:rowId xmlns:a16="http://schemas.microsoft.com/office/drawing/2014/main" val="452127006"/>
                  </a:ext>
                </a:extLst>
              </a:tr>
              <a:tr h="370840">
                <a:tc>
                  <a:txBody>
                    <a:bodyPr/>
                    <a:lstStyle/>
                    <a:p>
                      <a:r>
                        <a:rPr lang="en-US" dirty="0"/>
                        <a:t>Topic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Decision Trees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aka Classification and Regression Trees (CART)</a:t>
                      </a:r>
                    </a:p>
                  </a:txBody>
                  <a:tcPr/>
                </a:tc>
                <a:extLst>
                  <a:ext uri="{0D108BD9-81ED-4DB2-BD59-A6C34878D82A}">
                    <a16:rowId xmlns:a16="http://schemas.microsoft.com/office/drawing/2014/main" val="2703872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t>Classification and Regression Trees (CART)</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fontScale="92500"/>
          </a:bodyPr>
          <a:lstStyle/>
          <a:p>
            <a:r>
              <a:rPr lang="en-US" dirty="0"/>
              <a:t>Build a tree by splitting on independent variables </a:t>
            </a:r>
          </a:p>
          <a:p>
            <a:pPr lvl="1"/>
            <a:r>
              <a:rPr lang="en-US" dirty="0"/>
              <a:t>To predict the outcome for an observation, follow the splits, making a prediction based on the final node n CART models can be applied to predict:</a:t>
            </a:r>
          </a:p>
          <a:p>
            <a:pPr lvl="1"/>
            <a:r>
              <a:rPr lang="en-US" dirty="0"/>
              <a:t>A continuous outcome – called a regression tree</a:t>
            </a:r>
          </a:p>
          <a:p>
            <a:pPr lvl="1"/>
            <a:r>
              <a:rPr lang="en-US" dirty="0"/>
              <a:t>A discrete (classification) outcome – called a classification tree </a:t>
            </a:r>
          </a:p>
          <a:p>
            <a:r>
              <a:rPr lang="en-US" dirty="0"/>
              <a:t>Hence the name “Classification And Regression Tree”</a:t>
            </a:r>
          </a:p>
          <a:p>
            <a:endParaRPr lang="en-US" dirty="0"/>
          </a:p>
          <a:p>
            <a:r>
              <a:rPr lang="en-US" dirty="0">
                <a:hlinkClick r:id="rId2"/>
              </a:rPr>
              <a:t>https://medium.com/geekculture/applying-7-classification-algorithms-on-the-titanic-dataset-278ef222b53c</a:t>
            </a:r>
            <a:endParaRPr lang="en-US" dirty="0"/>
          </a:p>
          <a:p>
            <a:endParaRPr lang="en-US" dirty="0"/>
          </a:p>
        </p:txBody>
      </p:sp>
      <p:sp>
        <p:nvSpPr>
          <p:cNvPr id="4" name="Slide Number Placeholder 3"/>
          <p:cNvSpPr>
            <a:spLocks noGrp="1"/>
          </p:cNvSpPr>
          <p:nvPr>
            <p:ph type="sldNum" sz="quarter" idx="12"/>
          </p:nvPr>
        </p:nvSpPr>
        <p:spPr/>
        <p:txBody>
          <a:bodyPr/>
          <a:lstStyle/>
          <a:p>
            <a:fld id="{7957FF81-3E34-4073-BF50-FE78B3EBEE2E}" type="slidenum">
              <a:rPr lang="en-US" smtClean="0"/>
              <a:t>2</a:t>
            </a:fld>
            <a:endParaRPr lang="en-US"/>
          </a:p>
        </p:txBody>
      </p:sp>
    </p:spTree>
    <p:extLst>
      <p:ext uri="{BB962C8B-B14F-4D97-AF65-F5344CB8AC3E}">
        <p14:creationId xmlns:p14="http://schemas.microsoft.com/office/powerpoint/2010/main" val="407727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Some sample data</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3</a:t>
            </a:fld>
            <a:endParaRPr lang="en-US"/>
          </a:p>
        </p:txBody>
      </p:sp>
      <p:graphicFrame>
        <p:nvGraphicFramePr>
          <p:cNvPr id="7" name="Content Placeholder 6">
            <a:extLst>
              <a:ext uri="{FF2B5EF4-FFF2-40B4-BE49-F238E27FC236}">
                <a16:creationId xmlns:a16="http://schemas.microsoft.com/office/drawing/2014/main" id="{567AA850-35D5-D246-205C-7252186C22F4}"/>
              </a:ext>
            </a:extLst>
          </p:cNvPr>
          <p:cNvGraphicFramePr>
            <a:graphicFrameLocks noGrp="1"/>
          </p:cNvGraphicFramePr>
          <p:nvPr>
            <p:ph idx="1"/>
            <p:extLst>
              <p:ext uri="{D42A27DB-BD31-4B8C-83A1-F6EECF244321}">
                <p14:modId xmlns:p14="http://schemas.microsoft.com/office/powerpoint/2010/main" val="2985664006"/>
              </p:ext>
            </p:extLst>
          </p:nvPr>
        </p:nvGraphicFramePr>
        <p:xfrm>
          <a:off x="345453" y="1119037"/>
          <a:ext cx="3788802" cy="5369304"/>
        </p:xfrm>
        <a:graphic>
          <a:graphicData uri="http://schemas.openxmlformats.org/drawingml/2006/table">
            <a:tbl>
              <a:tblPr>
                <a:tableStyleId>{5940675A-B579-460E-94D1-54222C63F5DA}</a:tableStyleId>
              </a:tblPr>
              <a:tblGrid>
                <a:gridCol w="515483">
                  <a:extLst>
                    <a:ext uri="{9D8B030D-6E8A-4147-A177-3AD203B41FA5}">
                      <a16:colId xmlns:a16="http://schemas.microsoft.com/office/drawing/2014/main" val="926886944"/>
                    </a:ext>
                  </a:extLst>
                </a:gridCol>
                <a:gridCol w="1211386">
                  <a:extLst>
                    <a:ext uri="{9D8B030D-6E8A-4147-A177-3AD203B41FA5}">
                      <a16:colId xmlns:a16="http://schemas.microsoft.com/office/drawing/2014/main" val="2396093735"/>
                    </a:ext>
                  </a:extLst>
                </a:gridCol>
                <a:gridCol w="695902">
                  <a:extLst>
                    <a:ext uri="{9D8B030D-6E8A-4147-A177-3AD203B41FA5}">
                      <a16:colId xmlns:a16="http://schemas.microsoft.com/office/drawing/2014/main" val="1108500780"/>
                    </a:ext>
                  </a:extLst>
                </a:gridCol>
                <a:gridCol w="1366031">
                  <a:extLst>
                    <a:ext uri="{9D8B030D-6E8A-4147-A177-3AD203B41FA5}">
                      <a16:colId xmlns:a16="http://schemas.microsoft.com/office/drawing/2014/main" val="3749613512"/>
                    </a:ext>
                  </a:extLst>
                </a:gridCol>
              </a:tblGrid>
              <a:tr h="233448">
                <a:tc>
                  <a:txBody>
                    <a:bodyPr/>
                    <a:lstStyle/>
                    <a:p>
                      <a:pPr algn="ctr" fontAlgn="b"/>
                      <a:r>
                        <a:rPr lang="en-US" sz="1400" u="none" strike="noStrike">
                          <a:effectLst/>
                        </a:rPr>
                        <a:t>NO</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Interview</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GPA</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Experience</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841801"/>
                  </a:ext>
                </a:extLst>
              </a:tr>
              <a:tr h="233448">
                <a:tc>
                  <a:txBody>
                    <a:bodyPr/>
                    <a:lstStyle/>
                    <a:p>
                      <a:pPr algn="ct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3.27</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1.93</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75960061"/>
                  </a:ext>
                </a:extLst>
              </a:tr>
              <a:tr h="233448">
                <a:tc>
                  <a:txBody>
                    <a:bodyPr/>
                    <a:lstStyle/>
                    <a:p>
                      <a:pPr algn="ct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3.37</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9805066"/>
                  </a:ext>
                </a:extLst>
              </a:tr>
              <a:tr h="233448">
                <a:tc>
                  <a:txBody>
                    <a:bodyPr/>
                    <a:lstStyle/>
                    <a:p>
                      <a:pPr algn="ctr"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3.57</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1.91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50499103"/>
                  </a:ext>
                </a:extLst>
              </a:tr>
              <a:tr h="233448">
                <a:tc>
                  <a:txBody>
                    <a:bodyPr/>
                    <a:lstStyle/>
                    <a:p>
                      <a:pPr algn="ctr"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3.91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4.35</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95134779"/>
                  </a:ext>
                </a:extLst>
              </a:tr>
              <a:tr h="233448">
                <a:tc>
                  <a:txBody>
                    <a:bodyPr/>
                    <a:lstStyle/>
                    <a:p>
                      <a:pPr algn="ctr"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3.2</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1.7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65085904"/>
                  </a:ext>
                </a:extLst>
              </a:tr>
              <a:tr h="233448">
                <a:tc>
                  <a:txBody>
                    <a:bodyPr/>
                    <a:lstStyle/>
                    <a:p>
                      <a:pPr algn="ctr"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2.41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94943124"/>
                  </a:ext>
                </a:extLst>
              </a:tr>
              <a:tr h="233448">
                <a:tc>
                  <a:txBody>
                    <a:bodyPr/>
                    <a:lstStyle/>
                    <a:p>
                      <a:pPr algn="ctr"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3.94</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97367280"/>
                  </a:ext>
                </a:extLst>
              </a:tr>
              <a:tr h="233448">
                <a:tc>
                  <a:txBody>
                    <a:bodyPr/>
                    <a:lstStyle/>
                    <a:p>
                      <a:pPr algn="ctr"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2806712"/>
                  </a:ext>
                </a:extLst>
              </a:tr>
              <a:tr h="233448">
                <a:tc>
                  <a:txBody>
                    <a:bodyPr/>
                    <a:lstStyle/>
                    <a:p>
                      <a:pPr algn="ctr"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3.63</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0.93</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43460182"/>
                  </a:ext>
                </a:extLst>
              </a:tr>
              <a:tr h="233448">
                <a:tc>
                  <a:txBody>
                    <a:bodyPr/>
                    <a:lstStyle/>
                    <a:p>
                      <a:pPr algn="ctr"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3.06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4.14</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37606728"/>
                  </a:ext>
                </a:extLst>
              </a:tr>
              <a:tr h="233448">
                <a:tc>
                  <a:txBody>
                    <a:bodyPr/>
                    <a:lstStyle/>
                    <a:p>
                      <a:pPr algn="ctr"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3.21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3.34</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63559134"/>
                  </a:ext>
                </a:extLst>
              </a:tr>
              <a:tr h="233448">
                <a:tc>
                  <a:txBody>
                    <a:bodyPr/>
                    <a:lstStyle/>
                    <a:p>
                      <a:pPr algn="ctr"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3.97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3642444"/>
                  </a:ext>
                </a:extLst>
              </a:tr>
              <a:tr h="233448">
                <a:tc>
                  <a:txBody>
                    <a:bodyPr/>
                    <a:lstStyle/>
                    <a:p>
                      <a:pPr algn="ctr"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0.54</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42642289"/>
                  </a:ext>
                </a:extLst>
              </a:tr>
              <a:tr h="233448">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3.38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3.62</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02386582"/>
                  </a:ext>
                </a:extLst>
              </a:tr>
              <a:tr h="233448">
                <a:tc>
                  <a:txBody>
                    <a:bodyPr/>
                    <a:lstStyle/>
                    <a:p>
                      <a:pPr algn="ctr" fontAlgn="b"/>
                      <a:r>
                        <a:rPr lang="en-US" sz="1400" u="none" strike="noStrike">
                          <a:effectLst/>
                        </a:rPr>
                        <a:t>15</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3.77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2.06</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1842394"/>
                  </a:ext>
                </a:extLst>
              </a:tr>
              <a:tr h="233448">
                <a:tc>
                  <a:txBody>
                    <a:bodyPr/>
                    <a:lstStyle/>
                    <a:p>
                      <a:pPr algn="ctr" fontAlgn="b"/>
                      <a:r>
                        <a:rPr lang="en-US" sz="1400" u="none" strike="noStrike">
                          <a:effectLst/>
                        </a:rPr>
                        <a:t>16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3.5</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45949120"/>
                  </a:ext>
                </a:extLst>
              </a:tr>
              <a:tr h="233448">
                <a:tc>
                  <a:txBody>
                    <a:bodyPr/>
                    <a:lstStyle/>
                    <a:p>
                      <a:pPr algn="ctr" fontAlgn="b"/>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10534743"/>
                  </a:ext>
                </a:extLst>
              </a:tr>
              <a:tr h="233448">
                <a:tc>
                  <a:txBody>
                    <a:bodyPr/>
                    <a:lstStyle/>
                    <a:p>
                      <a:pPr algn="ctr" fontAlgn="b"/>
                      <a:r>
                        <a:rPr lang="en-US" sz="1400" u="none" strike="noStrike">
                          <a:effectLst/>
                        </a:rPr>
                        <a:t>17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3.31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3.46</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8834353"/>
                  </a:ext>
                </a:extLst>
              </a:tr>
              <a:tr h="233448">
                <a:tc>
                  <a:txBody>
                    <a:bodyPr/>
                    <a:lstStyle/>
                    <a:p>
                      <a:pPr algn="ctr" fontAlgn="b"/>
                      <a:r>
                        <a:rPr lang="en-US" sz="1400" u="none" strike="noStrike">
                          <a:effectLst/>
                        </a:rPr>
                        <a:t>26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3.78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0.29</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0880073"/>
                  </a:ext>
                </a:extLst>
              </a:tr>
              <a:tr h="233448">
                <a:tc>
                  <a:txBody>
                    <a:bodyPr/>
                    <a:lstStyle/>
                    <a:p>
                      <a:pPr algn="ctr" fontAlgn="b"/>
                      <a:r>
                        <a:rPr lang="en-US" sz="1400" u="none" strike="noStrike">
                          <a:effectLst/>
                        </a:rPr>
                        <a:t>27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3.87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1.21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31058697"/>
                  </a:ext>
                </a:extLst>
              </a:tr>
              <a:tr h="233448">
                <a:tc>
                  <a:txBody>
                    <a:bodyPr/>
                    <a:lstStyle/>
                    <a:p>
                      <a:pPr algn="ctr" fontAlgn="b"/>
                      <a:r>
                        <a:rPr lang="en-US" sz="1400" u="none" strike="noStrike">
                          <a:effectLst/>
                        </a:rPr>
                        <a:t>28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15198768"/>
                  </a:ext>
                </a:extLst>
              </a:tr>
              <a:tr h="233448">
                <a:tc>
                  <a:txBody>
                    <a:bodyPr/>
                    <a:lstStyle/>
                    <a:p>
                      <a:pPr algn="ctr" fontAlgn="b"/>
                      <a:r>
                        <a:rPr lang="en-US" sz="1400" u="none" strike="noStrike">
                          <a:effectLst/>
                        </a:rPr>
                        <a:t>29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3.87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2.11</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7704898"/>
                  </a:ext>
                </a:extLst>
              </a:tr>
            </a:tbl>
          </a:graphicData>
        </a:graphic>
      </p:graphicFrame>
      <p:sp>
        <p:nvSpPr>
          <p:cNvPr id="8" name="TextBox 7">
            <a:extLst>
              <a:ext uri="{FF2B5EF4-FFF2-40B4-BE49-F238E27FC236}">
                <a16:creationId xmlns:a16="http://schemas.microsoft.com/office/drawing/2014/main" id="{21967368-1D14-B7BC-3593-2E35A541E2A8}"/>
              </a:ext>
            </a:extLst>
          </p:cNvPr>
          <p:cNvSpPr txBox="1"/>
          <p:nvPr/>
        </p:nvSpPr>
        <p:spPr>
          <a:xfrm>
            <a:off x="4871624" y="1677970"/>
            <a:ext cx="4894545" cy="2585323"/>
          </a:xfrm>
          <a:prstGeom prst="rect">
            <a:avLst/>
          </a:prstGeom>
          <a:noFill/>
        </p:spPr>
        <p:txBody>
          <a:bodyPr wrap="square" rtlCol="0">
            <a:spAutoFit/>
          </a:bodyPr>
          <a:lstStyle/>
          <a:p>
            <a:r>
              <a:rPr lang="en-US" dirty="0"/>
              <a:t>GPA, Experience: are independent variables</a:t>
            </a:r>
          </a:p>
          <a:p>
            <a:endParaRPr lang="en-US" dirty="0"/>
          </a:p>
          <a:p>
            <a:r>
              <a:rPr lang="en-US" dirty="0"/>
              <a:t>Interview: Whether a candidate gets an interview or not depends on GPA and Experience.</a:t>
            </a:r>
          </a:p>
          <a:p>
            <a:endParaRPr lang="en-US" dirty="0"/>
          </a:p>
          <a:p>
            <a:endParaRPr lang="en-US" dirty="0"/>
          </a:p>
          <a:p>
            <a:r>
              <a:rPr lang="en-US" dirty="0"/>
              <a:t>3.2 (exp)  GPA 3.8</a:t>
            </a:r>
          </a:p>
          <a:p>
            <a:endParaRPr lang="en-US" dirty="0"/>
          </a:p>
          <a:p>
            <a:endParaRPr lang="en-US" dirty="0"/>
          </a:p>
        </p:txBody>
      </p:sp>
    </p:spTree>
    <p:extLst>
      <p:ext uri="{BB962C8B-B14F-4D97-AF65-F5344CB8AC3E}">
        <p14:creationId xmlns:p14="http://schemas.microsoft.com/office/powerpoint/2010/main" val="3321931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Decision Tree based on GPA</a:t>
            </a:r>
            <a:endParaRPr lang="en-US" dirty="0">
              <a:solidFill>
                <a:srgbClr val="04B452"/>
              </a:solidFill>
            </a:endParaRPr>
          </a:p>
        </p:txBody>
      </p:sp>
      <p:pic>
        <p:nvPicPr>
          <p:cNvPr id="9" name="Picture 8">
            <a:extLst>
              <a:ext uri="{FF2B5EF4-FFF2-40B4-BE49-F238E27FC236}">
                <a16:creationId xmlns:a16="http://schemas.microsoft.com/office/drawing/2014/main" id="{4C46E95D-DB6B-F97A-6BDD-157236069292}"/>
              </a:ext>
            </a:extLst>
          </p:cNvPr>
          <p:cNvPicPr>
            <a:picLocks noChangeAspect="1"/>
          </p:cNvPicPr>
          <p:nvPr/>
        </p:nvPicPr>
        <p:blipFill>
          <a:blip r:embed="rId2"/>
          <a:stretch>
            <a:fillRect/>
          </a:stretch>
        </p:blipFill>
        <p:spPr>
          <a:xfrm>
            <a:off x="6485" y="1169750"/>
            <a:ext cx="9205609" cy="5159832"/>
          </a:xfrm>
          <a:prstGeom prst="rect">
            <a:avLst/>
          </a:prstGeom>
        </p:spPr>
      </p:pic>
    </p:spTree>
    <p:extLst>
      <p:ext uri="{BB962C8B-B14F-4D97-AF65-F5344CB8AC3E}">
        <p14:creationId xmlns:p14="http://schemas.microsoft.com/office/powerpoint/2010/main" val="647603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Decision Tree based on GPA and some Experience</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8" name="Picture 7">
            <a:extLst>
              <a:ext uri="{FF2B5EF4-FFF2-40B4-BE49-F238E27FC236}">
                <a16:creationId xmlns:a16="http://schemas.microsoft.com/office/drawing/2014/main" id="{334213D3-7FF1-5073-3E5F-DCC84125A196}"/>
              </a:ext>
            </a:extLst>
          </p:cNvPr>
          <p:cNvPicPr>
            <a:picLocks noChangeAspect="1"/>
          </p:cNvPicPr>
          <p:nvPr/>
        </p:nvPicPr>
        <p:blipFill>
          <a:blip r:embed="rId3"/>
          <a:stretch>
            <a:fillRect/>
          </a:stretch>
        </p:blipFill>
        <p:spPr>
          <a:xfrm>
            <a:off x="0" y="971549"/>
            <a:ext cx="10498614" cy="5331973"/>
          </a:xfrm>
          <a:prstGeom prst="rect">
            <a:avLst/>
          </a:prstGeom>
        </p:spPr>
      </p:pic>
    </p:spTree>
    <p:extLst>
      <p:ext uri="{BB962C8B-B14F-4D97-AF65-F5344CB8AC3E}">
        <p14:creationId xmlns:p14="http://schemas.microsoft.com/office/powerpoint/2010/main" val="4029266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Decision Tree based on GPA and Experience</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pic>
        <p:nvPicPr>
          <p:cNvPr id="10" name="Picture 9">
            <a:extLst>
              <a:ext uri="{FF2B5EF4-FFF2-40B4-BE49-F238E27FC236}">
                <a16:creationId xmlns:a16="http://schemas.microsoft.com/office/drawing/2014/main" id="{262D6517-1386-B1D1-8108-312270202E36}"/>
              </a:ext>
            </a:extLst>
          </p:cNvPr>
          <p:cNvPicPr>
            <a:picLocks noChangeAspect="1"/>
          </p:cNvPicPr>
          <p:nvPr/>
        </p:nvPicPr>
        <p:blipFill>
          <a:blip r:embed="rId4"/>
          <a:stretch>
            <a:fillRect/>
          </a:stretch>
        </p:blipFill>
        <p:spPr>
          <a:xfrm>
            <a:off x="302064" y="765883"/>
            <a:ext cx="10868025" cy="5543550"/>
          </a:xfrm>
          <a:prstGeom prst="rect">
            <a:avLst/>
          </a:prstGeom>
        </p:spPr>
      </p:pic>
    </p:spTree>
    <p:extLst>
      <p:ext uri="{BB962C8B-B14F-4D97-AF65-F5344CB8AC3E}">
        <p14:creationId xmlns:p14="http://schemas.microsoft.com/office/powerpoint/2010/main" val="165044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Decision Tree : Model Summary</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400138" y="1490685"/>
            <a:ext cx="3757083" cy="3046988"/>
          </a:xfrm>
          <a:prstGeom prst="rect">
            <a:avLst/>
          </a:prstGeom>
          <a:noFill/>
        </p:spPr>
        <p:txBody>
          <a:bodyPr wrap="square">
            <a:spAutoFit/>
          </a:bodyPr>
          <a:lstStyle/>
          <a:p>
            <a:pPr marL="285750" indent="-285750">
              <a:buFont typeface="Arial" panose="020B0604020202020204" pitchFamily="34" charset="0"/>
              <a:buChar char="•"/>
            </a:pPr>
            <a:r>
              <a:rPr lang="en-US" sz="2400"/>
              <a:t>Model predicts a student will get an interview if they have GPA of 3.75+ and 1.65- 3.47 years of experience</a:t>
            </a:r>
          </a:p>
          <a:p>
            <a:pPr marL="285750" indent="-285750">
              <a:buFont typeface="Arial" panose="020B0604020202020204" pitchFamily="34" charset="0"/>
              <a:buChar char="•"/>
            </a:pPr>
            <a:endParaRPr lang="en-US" sz="2400"/>
          </a:p>
          <a:p>
            <a:pPr marL="285750" indent="-285750">
              <a:buFont typeface="Arial" panose="020B0604020202020204" pitchFamily="34" charset="0"/>
              <a:buChar char="•"/>
            </a:pPr>
            <a:r>
              <a:rPr lang="en-US" sz="2400"/>
              <a:t>Others are predicted not to get interviews</a:t>
            </a:r>
          </a:p>
        </p:txBody>
      </p:sp>
      <p:pic>
        <p:nvPicPr>
          <p:cNvPr id="13" name="Picture 12">
            <a:extLst>
              <a:ext uri="{FF2B5EF4-FFF2-40B4-BE49-F238E27FC236}">
                <a16:creationId xmlns:a16="http://schemas.microsoft.com/office/drawing/2014/main" id="{7972F071-9C89-290B-6DF5-745F725563E9}"/>
              </a:ext>
            </a:extLst>
          </p:cNvPr>
          <p:cNvPicPr>
            <a:picLocks noChangeAspect="1"/>
          </p:cNvPicPr>
          <p:nvPr/>
        </p:nvPicPr>
        <p:blipFill>
          <a:blip r:embed="rId4"/>
          <a:stretch>
            <a:fillRect/>
          </a:stretch>
        </p:blipFill>
        <p:spPr>
          <a:xfrm>
            <a:off x="4157220" y="1018294"/>
            <a:ext cx="7661285" cy="4643203"/>
          </a:xfrm>
          <a:prstGeom prst="rect">
            <a:avLst/>
          </a:prstGeom>
        </p:spPr>
      </p:pic>
    </p:spTree>
    <p:extLst>
      <p:ext uri="{BB962C8B-B14F-4D97-AF65-F5344CB8AC3E}">
        <p14:creationId xmlns:p14="http://schemas.microsoft.com/office/powerpoint/2010/main" val="939270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Predictions follow a simple path</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400138" y="1490685"/>
            <a:ext cx="3757083" cy="2677656"/>
          </a:xfrm>
          <a:prstGeom prst="rect">
            <a:avLst/>
          </a:prstGeom>
          <a:noFill/>
        </p:spPr>
        <p:txBody>
          <a:bodyPr wrap="square">
            <a:spAutoFit/>
          </a:bodyPr>
          <a:lstStyle/>
          <a:p>
            <a:pPr marL="285750" indent="-285750">
              <a:buFont typeface="Arial" panose="020B0604020202020204" pitchFamily="34" charset="0"/>
              <a:buChar char="•"/>
            </a:pPr>
            <a:r>
              <a:rPr lang="en-US" sz="2400"/>
              <a:t>Consider Stephanie, who has a 3.91 GPA and 0.8 years of experience</a:t>
            </a:r>
          </a:p>
          <a:p>
            <a:pPr marL="285750" indent="-285750">
              <a:buFont typeface="Arial" panose="020B0604020202020204" pitchFamily="34" charset="0"/>
              <a:buChar char="•"/>
            </a:pPr>
            <a:endParaRPr lang="en-US" sz="2400"/>
          </a:p>
          <a:p>
            <a:pPr marL="285750" indent="-285750">
              <a:buFont typeface="Arial" panose="020B0604020202020204" pitchFamily="34" charset="0"/>
              <a:buChar char="•"/>
            </a:pPr>
            <a:r>
              <a:rPr lang="en-US" sz="2400"/>
              <a:t>Is she predicted by the model to get an interview?</a:t>
            </a:r>
          </a:p>
        </p:txBody>
      </p:sp>
      <p:pic>
        <p:nvPicPr>
          <p:cNvPr id="13" name="Picture 12">
            <a:extLst>
              <a:ext uri="{FF2B5EF4-FFF2-40B4-BE49-F238E27FC236}">
                <a16:creationId xmlns:a16="http://schemas.microsoft.com/office/drawing/2014/main" id="{7972F071-9C89-290B-6DF5-745F725563E9}"/>
              </a:ext>
            </a:extLst>
          </p:cNvPr>
          <p:cNvPicPr>
            <a:picLocks noChangeAspect="1"/>
          </p:cNvPicPr>
          <p:nvPr/>
        </p:nvPicPr>
        <p:blipFill>
          <a:blip r:embed="rId4"/>
          <a:stretch>
            <a:fillRect/>
          </a:stretch>
        </p:blipFill>
        <p:spPr>
          <a:xfrm>
            <a:off x="2418780" y="3774831"/>
            <a:ext cx="4974341" cy="3014752"/>
          </a:xfrm>
          <a:prstGeom prst="rect">
            <a:avLst/>
          </a:prstGeom>
        </p:spPr>
      </p:pic>
      <p:cxnSp>
        <p:nvCxnSpPr>
          <p:cNvPr id="4" name="Straight Connector 3">
            <a:extLst>
              <a:ext uri="{FF2B5EF4-FFF2-40B4-BE49-F238E27FC236}">
                <a16:creationId xmlns:a16="http://schemas.microsoft.com/office/drawing/2014/main" id="{F7D8A85C-B294-DB4B-9AE4-6B3FBABE88AF}"/>
              </a:ext>
            </a:extLst>
          </p:cNvPr>
          <p:cNvCxnSpPr>
            <a:cxnSpLocks/>
          </p:cNvCxnSpPr>
          <p:nvPr/>
        </p:nvCxnSpPr>
        <p:spPr>
          <a:xfrm>
            <a:off x="5066093" y="4325725"/>
            <a:ext cx="424206" cy="490194"/>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4DCF0C9-0CD2-45E7-2977-6F3659DB3A89}"/>
              </a:ext>
            </a:extLst>
          </p:cNvPr>
          <p:cNvCxnSpPr>
            <a:cxnSpLocks/>
          </p:cNvCxnSpPr>
          <p:nvPr/>
        </p:nvCxnSpPr>
        <p:spPr>
          <a:xfrm>
            <a:off x="5908431" y="5048312"/>
            <a:ext cx="432079" cy="467789"/>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3" name="Content Placeholder 6">
            <a:extLst>
              <a:ext uri="{FF2B5EF4-FFF2-40B4-BE49-F238E27FC236}">
                <a16:creationId xmlns:a16="http://schemas.microsoft.com/office/drawing/2014/main" id="{C79FDE72-F209-6F13-C6B6-083E5D054D17}"/>
              </a:ext>
            </a:extLst>
          </p:cNvPr>
          <p:cNvGraphicFramePr>
            <a:graphicFrameLocks noGrp="1"/>
          </p:cNvGraphicFramePr>
          <p:nvPr>
            <p:ph idx="1"/>
            <p:extLst>
              <p:ext uri="{D42A27DB-BD31-4B8C-83A1-F6EECF244321}">
                <p14:modId xmlns:p14="http://schemas.microsoft.com/office/powerpoint/2010/main" val="4001556549"/>
              </p:ext>
            </p:extLst>
          </p:nvPr>
        </p:nvGraphicFramePr>
        <p:xfrm>
          <a:off x="9448083" y="720770"/>
          <a:ext cx="3788802" cy="5369304"/>
        </p:xfrm>
        <a:graphic>
          <a:graphicData uri="http://schemas.openxmlformats.org/drawingml/2006/table">
            <a:tbl>
              <a:tblPr>
                <a:tableStyleId>{5940675A-B579-460E-94D1-54222C63F5DA}</a:tableStyleId>
              </a:tblPr>
              <a:tblGrid>
                <a:gridCol w="515483">
                  <a:extLst>
                    <a:ext uri="{9D8B030D-6E8A-4147-A177-3AD203B41FA5}">
                      <a16:colId xmlns:a16="http://schemas.microsoft.com/office/drawing/2014/main" val="926886944"/>
                    </a:ext>
                  </a:extLst>
                </a:gridCol>
                <a:gridCol w="1211386">
                  <a:extLst>
                    <a:ext uri="{9D8B030D-6E8A-4147-A177-3AD203B41FA5}">
                      <a16:colId xmlns:a16="http://schemas.microsoft.com/office/drawing/2014/main" val="2396093735"/>
                    </a:ext>
                  </a:extLst>
                </a:gridCol>
                <a:gridCol w="695902">
                  <a:extLst>
                    <a:ext uri="{9D8B030D-6E8A-4147-A177-3AD203B41FA5}">
                      <a16:colId xmlns:a16="http://schemas.microsoft.com/office/drawing/2014/main" val="1108500780"/>
                    </a:ext>
                  </a:extLst>
                </a:gridCol>
                <a:gridCol w="1366031">
                  <a:extLst>
                    <a:ext uri="{9D8B030D-6E8A-4147-A177-3AD203B41FA5}">
                      <a16:colId xmlns:a16="http://schemas.microsoft.com/office/drawing/2014/main" val="3749613512"/>
                    </a:ext>
                  </a:extLst>
                </a:gridCol>
              </a:tblGrid>
              <a:tr h="233448">
                <a:tc>
                  <a:txBody>
                    <a:bodyPr/>
                    <a:lstStyle/>
                    <a:p>
                      <a:pPr algn="ctr" fontAlgn="b"/>
                      <a:r>
                        <a:rPr lang="en-US" sz="1400" u="none" strike="noStrike">
                          <a:effectLst/>
                        </a:rPr>
                        <a:t>NO</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Interview</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GPA</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Experience</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841801"/>
                  </a:ext>
                </a:extLst>
              </a:tr>
              <a:tr h="233448">
                <a:tc>
                  <a:txBody>
                    <a:bodyPr/>
                    <a:lstStyle/>
                    <a:p>
                      <a:pPr algn="ctr"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3.27</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1.93</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75960061"/>
                  </a:ext>
                </a:extLst>
              </a:tr>
              <a:tr h="233448">
                <a:tc>
                  <a:txBody>
                    <a:bodyPr/>
                    <a:lstStyle/>
                    <a:p>
                      <a:pPr algn="ctr"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3.37</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9805066"/>
                  </a:ext>
                </a:extLst>
              </a:tr>
              <a:tr h="233448">
                <a:tc>
                  <a:txBody>
                    <a:bodyPr/>
                    <a:lstStyle/>
                    <a:p>
                      <a:pPr algn="ctr"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3.57</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1.91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50499103"/>
                  </a:ext>
                </a:extLst>
              </a:tr>
              <a:tr h="233448">
                <a:tc>
                  <a:txBody>
                    <a:bodyPr/>
                    <a:lstStyle/>
                    <a:p>
                      <a:pPr algn="ctr"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3.91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4.35</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95134779"/>
                  </a:ext>
                </a:extLst>
              </a:tr>
              <a:tr h="233448">
                <a:tc>
                  <a:txBody>
                    <a:bodyPr/>
                    <a:lstStyle/>
                    <a:p>
                      <a:pPr algn="ctr"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3.2</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1.7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65085904"/>
                  </a:ext>
                </a:extLst>
              </a:tr>
              <a:tr h="233448">
                <a:tc>
                  <a:txBody>
                    <a:bodyPr/>
                    <a:lstStyle/>
                    <a:p>
                      <a:pPr algn="ctr"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2.41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94943124"/>
                  </a:ext>
                </a:extLst>
              </a:tr>
              <a:tr h="233448">
                <a:tc>
                  <a:txBody>
                    <a:bodyPr/>
                    <a:lstStyle/>
                    <a:p>
                      <a:pPr algn="ctr"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3.94</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97367280"/>
                  </a:ext>
                </a:extLst>
              </a:tr>
              <a:tr h="233448">
                <a:tc>
                  <a:txBody>
                    <a:bodyPr/>
                    <a:lstStyle/>
                    <a:p>
                      <a:pPr algn="ctr"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2806712"/>
                  </a:ext>
                </a:extLst>
              </a:tr>
              <a:tr h="233448">
                <a:tc>
                  <a:txBody>
                    <a:bodyPr/>
                    <a:lstStyle/>
                    <a:p>
                      <a:pPr algn="ctr"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3.63</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0.93</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43460182"/>
                  </a:ext>
                </a:extLst>
              </a:tr>
              <a:tr h="233448">
                <a:tc>
                  <a:txBody>
                    <a:bodyPr/>
                    <a:lstStyle/>
                    <a:p>
                      <a:pPr algn="ctr"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3.06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4.14</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37606728"/>
                  </a:ext>
                </a:extLst>
              </a:tr>
              <a:tr h="233448">
                <a:tc>
                  <a:txBody>
                    <a:bodyPr/>
                    <a:lstStyle/>
                    <a:p>
                      <a:pPr algn="ctr"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3.21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3.34</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63559134"/>
                  </a:ext>
                </a:extLst>
              </a:tr>
              <a:tr h="233448">
                <a:tc>
                  <a:txBody>
                    <a:bodyPr/>
                    <a:lstStyle/>
                    <a:p>
                      <a:pPr algn="ctr"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3.97</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3642444"/>
                  </a:ext>
                </a:extLst>
              </a:tr>
              <a:tr h="233448">
                <a:tc>
                  <a:txBody>
                    <a:bodyPr/>
                    <a:lstStyle/>
                    <a:p>
                      <a:pPr algn="ctr"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0.54</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42642289"/>
                  </a:ext>
                </a:extLst>
              </a:tr>
              <a:tr h="233448">
                <a:tc>
                  <a:txBody>
                    <a:bodyPr/>
                    <a:lstStyle/>
                    <a:p>
                      <a:pPr algn="ctr" fontAlgn="b"/>
                      <a:r>
                        <a:rPr lang="en-US" sz="1400" u="none" strike="noStrike">
                          <a:effectLst/>
                        </a:rPr>
                        <a:t>14</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3.38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3.62</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02386582"/>
                  </a:ext>
                </a:extLst>
              </a:tr>
              <a:tr h="233448">
                <a:tc>
                  <a:txBody>
                    <a:bodyPr/>
                    <a:lstStyle/>
                    <a:p>
                      <a:pPr algn="ctr" fontAlgn="b"/>
                      <a:r>
                        <a:rPr lang="en-US" sz="1400" u="none" strike="noStrike">
                          <a:effectLst/>
                        </a:rPr>
                        <a:t>15</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3.77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2.06</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1842394"/>
                  </a:ext>
                </a:extLst>
              </a:tr>
              <a:tr h="233448">
                <a:tc>
                  <a:txBody>
                    <a:bodyPr/>
                    <a:lstStyle/>
                    <a:p>
                      <a:pPr algn="ctr" fontAlgn="b"/>
                      <a:r>
                        <a:rPr lang="en-US" sz="1400" u="none" strike="noStrike">
                          <a:effectLst/>
                        </a:rPr>
                        <a:t>16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3.5</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45949120"/>
                  </a:ext>
                </a:extLst>
              </a:tr>
              <a:tr h="233448">
                <a:tc>
                  <a:txBody>
                    <a:bodyPr/>
                    <a:lstStyle/>
                    <a:p>
                      <a:pPr algn="ctr" fontAlgn="b"/>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10534743"/>
                  </a:ext>
                </a:extLst>
              </a:tr>
              <a:tr h="233448">
                <a:tc>
                  <a:txBody>
                    <a:bodyPr/>
                    <a:lstStyle/>
                    <a:p>
                      <a:pPr algn="ctr" fontAlgn="b"/>
                      <a:r>
                        <a:rPr lang="en-US" sz="1400" u="none" strike="noStrike">
                          <a:effectLst/>
                        </a:rPr>
                        <a:t>17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3.31</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3.46</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8834353"/>
                  </a:ext>
                </a:extLst>
              </a:tr>
              <a:tr h="233448">
                <a:tc>
                  <a:txBody>
                    <a:bodyPr/>
                    <a:lstStyle/>
                    <a:p>
                      <a:pPr algn="ctr" fontAlgn="b"/>
                      <a:r>
                        <a:rPr lang="en-US" sz="1400" u="none" strike="noStrike">
                          <a:effectLst/>
                        </a:rPr>
                        <a:t>26</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3.78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0.29</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0880073"/>
                  </a:ext>
                </a:extLst>
              </a:tr>
              <a:tr h="233448">
                <a:tc>
                  <a:txBody>
                    <a:bodyPr/>
                    <a:lstStyle/>
                    <a:p>
                      <a:pPr algn="ctr" fontAlgn="b"/>
                      <a:r>
                        <a:rPr lang="en-US" sz="1400" u="none" strike="noStrike">
                          <a:effectLst/>
                        </a:rPr>
                        <a:t>27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3.87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1.21</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31058697"/>
                  </a:ext>
                </a:extLst>
              </a:tr>
              <a:tr h="233448">
                <a:tc>
                  <a:txBody>
                    <a:bodyPr/>
                    <a:lstStyle/>
                    <a:p>
                      <a:pPr algn="ctr" fontAlgn="b"/>
                      <a:r>
                        <a:rPr lang="en-US" sz="1400" u="none" strike="noStrike">
                          <a:effectLst/>
                        </a:rPr>
                        <a:t>28</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0</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15198768"/>
                  </a:ext>
                </a:extLst>
              </a:tr>
              <a:tr h="233448">
                <a:tc>
                  <a:txBody>
                    <a:bodyPr/>
                    <a:lstStyle/>
                    <a:p>
                      <a:pPr algn="ctr" fontAlgn="b"/>
                      <a:r>
                        <a:rPr lang="en-US" sz="1400" u="none" strike="noStrike">
                          <a:effectLst/>
                        </a:rPr>
                        <a:t>29</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1</a:t>
                      </a:r>
                      <a:endParaRPr lang="en-US"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a:effectLst/>
                        </a:rPr>
                        <a:t>3.87</a:t>
                      </a:r>
                      <a:endParaRPr lang="en-US" sz="14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400" u="none" strike="noStrike" dirty="0">
                          <a:effectLst/>
                        </a:rPr>
                        <a:t>2.11</a:t>
                      </a:r>
                      <a:endParaRPr lang="en-US"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7704898"/>
                  </a:ext>
                </a:extLst>
              </a:tr>
            </a:tbl>
          </a:graphicData>
        </a:graphic>
      </p:graphicFrame>
      <p:sp>
        <p:nvSpPr>
          <p:cNvPr id="9" name="TextBox 8">
            <a:extLst>
              <a:ext uri="{FF2B5EF4-FFF2-40B4-BE49-F238E27FC236}">
                <a16:creationId xmlns:a16="http://schemas.microsoft.com/office/drawing/2014/main" id="{3CC24D7E-3820-72E0-FC1D-5D087F37B590}"/>
              </a:ext>
            </a:extLst>
          </p:cNvPr>
          <p:cNvSpPr txBox="1"/>
          <p:nvPr/>
        </p:nvSpPr>
        <p:spPr>
          <a:xfrm>
            <a:off x="4290693" y="2542784"/>
            <a:ext cx="6204856" cy="369332"/>
          </a:xfrm>
          <a:prstGeom prst="rect">
            <a:avLst/>
          </a:prstGeom>
          <a:noFill/>
        </p:spPr>
        <p:txBody>
          <a:bodyPr wrap="square">
            <a:spAutoFit/>
          </a:bodyPr>
          <a:lstStyle/>
          <a:p>
            <a:r>
              <a:rPr lang="en-US" dirty="0"/>
              <a:t>3.2 (exp)  GPA 3.8</a:t>
            </a:r>
          </a:p>
        </p:txBody>
      </p:sp>
      <p:cxnSp>
        <p:nvCxnSpPr>
          <p:cNvPr id="14" name="Straight Connector 13">
            <a:extLst>
              <a:ext uri="{FF2B5EF4-FFF2-40B4-BE49-F238E27FC236}">
                <a16:creationId xmlns:a16="http://schemas.microsoft.com/office/drawing/2014/main" id="{69103D79-2828-830D-1E48-CB47DBD49802}"/>
              </a:ext>
            </a:extLst>
          </p:cNvPr>
          <p:cNvCxnSpPr>
            <a:cxnSpLocks/>
          </p:cNvCxnSpPr>
          <p:nvPr/>
        </p:nvCxnSpPr>
        <p:spPr>
          <a:xfrm>
            <a:off x="6124470" y="5789090"/>
            <a:ext cx="316523" cy="363751"/>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4875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Some sample data</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400138" y="2122983"/>
            <a:ext cx="4502602" cy="3046988"/>
          </a:xfrm>
          <a:prstGeom prst="rect">
            <a:avLst/>
          </a:prstGeom>
          <a:noFill/>
        </p:spPr>
        <p:txBody>
          <a:bodyPr wrap="square">
            <a:spAutoFit/>
          </a:bodyPr>
          <a:lstStyle/>
          <a:p>
            <a:pPr marL="285750" indent="-285750">
              <a:buFont typeface="Arial" panose="020B0604020202020204" pitchFamily="34" charset="0"/>
              <a:buChar char="•"/>
            </a:pPr>
            <a:r>
              <a:rPr lang="en-US" sz="2400"/>
              <a:t>Trees divide the feature space (the space of possible features) into k distinct regions R1, R2,…, Rk</a:t>
            </a:r>
          </a:p>
          <a:p>
            <a:pPr marL="285750" indent="-285750">
              <a:buFont typeface="Arial" panose="020B0604020202020204" pitchFamily="34" charset="0"/>
              <a:buChar char="•"/>
            </a:pPr>
            <a:endParaRPr lang="en-US" sz="2400"/>
          </a:p>
          <a:p>
            <a:pPr marL="285750" indent="-285750">
              <a:buFont typeface="Arial" panose="020B0604020202020204" pitchFamily="34" charset="0"/>
              <a:buChar char="•"/>
            </a:pPr>
            <a:r>
              <a:rPr lang="en-US" sz="2400"/>
              <a:t>The same prediction is made for every X that falls into a particular region Rj</a:t>
            </a:r>
          </a:p>
        </p:txBody>
      </p:sp>
      <p:pic>
        <p:nvPicPr>
          <p:cNvPr id="5" name="Picture 4">
            <a:extLst>
              <a:ext uri="{FF2B5EF4-FFF2-40B4-BE49-F238E27FC236}">
                <a16:creationId xmlns:a16="http://schemas.microsoft.com/office/drawing/2014/main" id="{E058ECAC-093D-D739-0B83-28CDA84BA8CE}"/>
              </a:ext>
            </a:extLst>
          </p:cNvPr>
          <p:cNvPicPr>
            <a:picLocks noChangeAspect="1"/>
          </p:cNvPicPr>
          <p:nvPr/>
        </p:nvPicPr>
        <p:blipFill>
          <a:blip r:embed="rId4"/>
          <a:stretch>
            <a:fillRect/>
          </a:stretch>
        </p:blipFill>
        <p:spPr>
          <a:xfrm>
            <a:off x="5843385" y="1490685"/>
            <a:ext cx="4798675" cy="4739432"/>
          </a:xfrm>
          <a:prstGeom prst="rect">
            <a:avLst/>
          </a:prstGeom>
        </p:spPr>
      </p:pic>
    </p:spTree>
    <p:extLst>
      <p:ext uri="{BB962C8B-B14F-4D97-AF65-F5344CB8AC3E}">
        <p14:creationId xmlns:p14="http://schemas.microsoft.com/office/powerpoint/2010/main" val="247273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Predictions (regression and classification)</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400138" y="1607417"/>
            <a:ext cx="4502602" cy="4154984"/>
          </a:xfrm>
          <a:prstGeom prst="rect">
            <a:avLst/>
          </a:prstGeom>
          <a:noFill/>
        </p:spPr>
        <p:txBody>
          <a:bodyPr wrap="square">
            <a:spAutoFit/>
          </a:bodyPr>
          <a:lstStyle/>
          <a:p>
            <a:pPr marL="285750" indent="-285750">
              <a:buFont typeface="Arial" panose="020B0604020202020204" pitchFamily="34" charset="0"/>
              <a:buChar char="•"/>
            </a:pPr>
            <a:r>
              <a:rPr lang="en-US" sz="2400"/>
              <a:t>For regression trees, make a prediction based on the mean response value (w.r.t. to the training data) in the corresponding bucket </a:t>
            </a:r>
          </a:p>
          <a:p>
            <a:pPr marL="285750" indent="-285750">
              <a:buFont typeface="Arial" panose="020B0604020202020204" pitchFamily="34" charset="0"/>
              <a:buChar char="•"/>
            </a:pPr>
            <a:endParaRPr lang="en-US" sz="2400"/>
          </a:p>
          <a:p>
            <a:pPr marL="285750" indent="-285750">
              <a:buFont typeface="Arial" panose="020B0604020202020204" pitchFamily="34" charset="0"/>
              <a:buChar char="•"/>
            </a:pPr>
            <a:r>
              <a:rPr lang="en-US" sz="2400"/>
              <a:t>For classification trees, make a prediction based on the most commonly occurring class in the corresponding bucket n Class proportions also informative</a:t>
            </a:r>
          </a:p>
        </p:txBody>
      </p:sp>
      <p:pic>
        <p:nvPicPr>
          <p:cNvPr id="5" name="Picture 4">
            <a:extLst>
              <a:ext uri="{FF2B5EF4-FFF2-40B4-BE49-F238E27FC236}">
                <a16:creationId xmlns:a16="http://schemas.microsoft.com/office/drawing/2014/main" id="{E058ECAC-093D-D739-0B83-28CDA84BA8CE}"/>
              </a:ext>
            </a:extLst>
          </p:cNvPr>
          <p:cNvPicPr>
            <a:picLocks noChangeAspect="1"/>
          </p:cNvPicPr>
          <p:nvPr/>
        </p:nvPicPr>
        <p:blipFill>
          <a:blip r:embed="rId4"/>
          <a:stretch>
            <a:fillRect/>
          </a:stretch>
        </p:blipFill>
        <p:spPr>
          <a:xfrm>
            <a:off x="5843385" y="1490685"/>
            <a:ext cx="4798675" cy="4739432"/>
          </a:xfrm>
          <a:prstGeom prst="rect">
            <a:avLst/>
          </a:prstGeom>
        </p:spPr>
      </p:pic>
    </p:spTree>
    <p:extLst>
      <p:ext uri="{BB962C8B-B14F-4D97-AF65-F5344CB8AC3E}">
        <p14:creationId xmlns:p14="http://schemas.microsoft.com/office/powerpoint/2010/main" val="1671486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Decision Nodes, Leaf Nodes</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pic>
        <p:nvPicPr>
          <p:cNvPr id="9" name="Picture 8">
            <a:extLst>
              <a:ext uri="{FF2B5EF4-FFF2-40B4-BE49-F238E27FC236}">
                <a16:creationId xmlns:a16="http://schemas.microsoft.com/office/drawing/2014/main" id="{042FDF83-DD0F-ABA7-4353-BB08D820449B}"/>
              </a:ext>
            </a:extLst>
          </p:cNvPr>
          <p:cNvPicPr>
            <a:picLocks noChangeAspect="1"/>
          </p:cNvPicPr>
          <p:nvPr/>
        </p:nvPicPr>
        <p:blipFill>
          <a:blip r:embed="rId4"/>
          <a:stretch>
            <a:fillRect/>
          </a:stretch>
        </p:blipFill>
        <p:spPr>
          <a:xfrm>
            <a:off x="629764" y="1018295"/>
            <a:ext cx="10080389" cy="4683706"/>
          </a:xfrm>
          <a:prstGeom prst="rect">
            <a:avLst/>
          </a:prstGeom>
        </p:spPr>
      </p:pic>
      <p:sp>
        <p:nvSpPr>
          <p:cNvPr id="11" name="TextBox 10">
            <a:extLst>
              <a:ext uri="{FF2B5EF4-FFF2-40B4-BE49-F238E27FC236}">
                <a16:creationId xmlns:a16="http://schemas.microsoft.com/office/drawing/2014/main" id="{60ECCDE6-1C2B-9556-2B69-BAA4138657DB}"/>
              </a:ext>
            </a:extLst>
          </p:cNvPr>
          <p:cNvSpPr txBox="1"/>
          <p:nvPr/>
        </p:nvSpPr>
        <p:spPr>
          <a:xfrm>
            <a:off x="103254" y="6092117"/>
            <a:ext cx="9455285" cy="369332"/>
          </a:xfrm>
          <a:prstGeom prst="rect">
            <a:avLst/>
          </a:prstGeom>
          <a:noFill/>
        </p:spPr>
        <p:txBody>
          <a:bodyPr wrap="square">
            <a:spAutoFit/>
          </a:bodyPr>
          <a:lstStyle/>
          <a:p>
            <a:pPr marL="285750" indent="-285750">
              <a:buFont typeface="Arial" panose="020B0604020202020204" pitchFamily="34" charset="0"/>
              <a:buChar char="•"/>
            </a:pPr>
            <a:r>
              <a:rPr lang="en-US" sz="1800"/>
              <a:t>https://www.kdnuggets.com/2020/01/decision-tree-algorithm-explained.html</a:t>
            </a:r>
          </a:p>
        </p:txBody>
      </p:sp>
    </p:spTree>
    <p:extLst>
      <p:ext uri="{BB962C8B-B14F-4D97-AF65-F5344CB8AC3E}">
        <p14:creationId xmlns:p14="http://schemas.microsoft.com/office/powerpoint/2010/main" val="2801250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Splitting Decisions and Model Performance</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384894" y="909784"/>
            <a:ext cx="11728549" cy="4893647"/>
          </a:xfrm>
          <a:prstGeom prst="rect">
            <a:avLst/>
          </a:prstGeom>
          <a:noFill/>
        </p:spPr>
        <p:txBody>
          <a:bodyPr wrap="square">
            <a:spAutoFit/>
          </a:bodyPr>
          <a:lstStyle/>
          <a:p>
            <a:pPr algn="l"/>
            <a:r>
              <a:rPr lang="en-US" sz="2400" b="1" i="0">
                <a:effectLst/>
                <a:latin typeface="Söhne"/>
              </a:rPr>
              <a:t>Gini impurity: </a:t>
            </a:r>
            <a:r>
              <a:rPr lang="en-US" sz="2400" b="0" i="0">
                <a:effectLst/>
                <a:latin typeface="Söhne"/>
              </a:rPr>
              <a:t>This is a measure of the probability of misclassifying a randomly chosen element from the node. It is defined as the sum of the probabilities of each class label squared, subtracted from one. The Gini impurity is minimized when all the elements in the node belong to the same class.</a:t>
            </a:r>
          </a:p>
          <a:p>
            <a:pPr algn="l">
              <a:buFont typeface="+mj-lt"/>
              <a:buAutoNum type="arabicPeriod"/>
            </a:pPr>
            <a:endParaRPr lang="en-US" sz="2400" b="0" i="0">
              <a:effectLst/>
              <a:latin typeface="Söhne"/>
            </a:endParaRPr>
          </a:p>
          <a:p>
            <a:pPr algn="l"/>
            <a:r>
              <a:rPr lang="en-US" sz="2400" b="1" i="0">
                <a:effectLst/>
                <a:latin typeface="Söhne"/>
              </a:rPr>
              <a:t>Entropy: </a:t>
            </a:r>
            <a:r>
              <a:rPr lang="en-US" sz="2400" b="0" i="0">
                <a:effectLst/>
                <a:latin typeface="Söhne"/>
              </a:rPr>
              <a:t>This is a measure of the amount of information needed to describe the distribution of the target variable in the node. It is defined as the negative sum of the probabilities of each class label multiplied by the logarithm of the probabilities. Entropy is minimized when all the elements in the node belong to the same class.</a:t>
            </a:r>
          </a:p>
          <a:p>
            <a:pPr algn="l">
              <a:buFont typeface="+mj-lt"/>
              <a:buAutoNum type="arabicPeriod"/>
            </a:pPr>
            <a:endParaRPr lang="en-US" sz="2400" b="0" i="0">
              <a:effectLst/>
              <a:latin typeface="Söhne"/>
            </a:endParaRPr>
          </a:p>
          <a:p>
            <a:pPr algn="l"/>
            <a:r>
              <a:rPr lang="en-US" sz="2400" b="1" i="0">
                <a:effectLst/>
                <a:latin typeface="Söhne"/>
              </a:rPr>
              <a:t>Classification error: </a:t>
            </a:r>
            <a:r>
              <a:rPr lang="en-US" sz="2400" b="0" i="0">
                <a:effectLst/>
                <a:latin typeface="Söhne"/>
              </a:rPr>
              <a:t>This is a measure of the error rate of the most frequent class in the node. It is defined as one minus the maximum probability of any class label in the node. Classification error is minimized when all the elements in the node belong to the same class.</a:t>
            </a:r>
          </a:p>
        </p:txBody>
      </p:sp>
      <p:sp>
        <p:nvSpPr>
          <p:cNvPr id="4" name="TextBox 3">
            <a:extLst>
              <a:ext uri="{FF2B5EF4-FFF2-40B4-BE49-F238E27FC236}">
                <a16:creationId xmlns:a16="http://schemas.microsoft.com/office/drawing/2014/main" id="{32387207-8FCE-9A20-E97D-A2A4F0084437}"/>
              </a:ext>
            </a:extLst>
          </p:cNvPr>
          <p:cNvSpPr txBox="1"/>
          <p:nvPr/>
        </p:nvSpPr>
        <p:spPr>
          <a:xfrm>
            <a:off x="537329" y="6092117"/>
            <a:ext cx="8804634" cy="369332"/>
          </a:xfrm>
          <a:prstGeom prst="rect">
            <a:avLst/>
          </a:prstGeom>
          <a:noFill/>
        </p:spPr>
        <p:txBody>
          <a:bodyPr wrap="square">
            <a:spAutoFit/>
          </a:bodyPr>
          <a:lstStyle/>
          <a:p>
            <a:pPr marL="285750" indent="-285750">
              <a:buFont typeface="Arial" panose="020B0604020202020204" pitchFamily="34" charset="0"/>
              <a:buChar char="•"/>
            </a:pPr>
            <a:r>
              <a:rPr lang="en-US" sz="1800"/>
              <a:t>Let us refer to “ML_Basic_Concepts_Glossary.pdf” (slides 32 – 44)</a:t>
            </a:r>
          </a:p>
        </p:txBody>
      </p:sp>
    </p:spTree>
    <p:extLst>
      <p:ext uri="{BB962C8B-B14F-4D97-AF65-F5344CB8AC3E}">
        <p14:creationId xmlns:p14="http://schemas.microsoft.com/office/powerpoint/2010/main" val="547194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Gini Index</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13</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309218"/>
            <a:ext cx="12041171" cy="52050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https://www.learnbymarketing.com/481/decision-tree-flavors-gini-info-gain/</a:t>
            </a:r>
            <a:r>
              <a:rPr lang="en-US" sz="1800"/>
              <a:t> </a:t>
            </a:r>
            <a:endParaRPr lang="en-US" sz="1800" dirty="0"/>
          </a:p>
        </p:txBody>
      </p:sp>
      <p:sp>
        <p:nvSpPr>
          <p:cNvPr id="12" name="TextBox 11">
            <a:extLst>
              <a:ext uri="{FF2B5EF4-FFF2-40B4-BE49-F238E27FC236}">
                <a16:creationId xmlns:a16="http://schemas.microsoft.com/office/drawing/2014/main" id="{16843318-CFB4-1DE6-9D8E-EEFE8C6A87F5}"/>
              </a:ext>
            </a:extLst>
          </p:cNvPr>
          <p:cNvSpPr txBox="1"/>
          <p:nvPr/>
        </p:nvSpPr>
        <p:spPr>
          <a:xfrm>
            <a:off x="75414" y="595708"/>
            <a:ext cx="11858919" cy="4154984"/>
          </a:xfrm>
          <a:prstGeom prst="rect">
            <a:avLst/>
          </a:prstGeom>
          <a:noFill/>
        </p:spPr>
        <p:txBody>
          <a:bodyPr wrap="square">
            <a:spAutoFit/>
          </a:bodyPr>
          <a:lstStyle/>
          <a:p>
            <a:pPr algn="l"/>
            <a:r>
              <a:rPr lang="en-US" sz="2400" b="0" i="0">
                <a:solidFill>
                  <a:srgbClr val="374151"/>
                </a:solidFill>
                <a:effectLst/>
                <a:latin typeface="Söhne"/>
              </a:rPr>
              <a:t>The Gini index is a measure of impurity or diversity commonly used to evaluate the quality of a split in a decision tree.</a:t>
            </a:r>
          </a:p>
          <a:p>
            <a:pPr algn="l"/>
            <a:endParaRPr lang="en-US" sz="2400">
              <a:solidFill>
                <a:srgbClr val="374151"/>
              </a:solidFill>
              <a:latin typeface="Söhne"/>
            </a:endParaRPr>
          </a:p>
          <a:p>
            <a:pPr algn="l"/>
            <a:r>
              <a:rPr lang="en-US" sz="2400" b="0" i="0">
                <a:solidFill>
                  <a:srgbClr val="374151"/>
                </a:solidFill>
                <a:effectLst/>
                <a:latin typeface="Söhne"/>
              </a:rPr>
              <a:t>It measures how often a randomly chosen element from a set would be incorrectly labeled.</a:t>
            </a:r>
          </a:p>
          <a:p>
            <a:pPr algn="l"/>
            <a:endParaRPr lang="en-US" sz="2400" b="0" i="0">
              <a:solidFill>
                <a:srgbClr val="374151"/>
              </a:solidFill>
              <a:effectLst/>
              <a:latin typeface="Söhne"/>
            </a:endParaRPr>
          </a:p>
          <a:p>
            <a:pPr algn="l"/>
            <a:r>
              <a:rPr lang="en-US" sz="2400" b="0" i="0">
                <a:solidFill>
                  <a:srgbClr val="374151"/>
                </a:solidFill>
                <a:effectLst/>
                <a:latin typeface="Söhne"/>
              </a:rPr>
              <a:t>The Gini index ranges from 0 to 1, with 0 indicating perfect purity (all elements have the same label) and 1 indicating maximum impurity (an equal number of elements have each possible label).</a:t>
            </a:r>
          </a:p>
          <a:p>
            <a:pPr algn="l"/>
            <a:endParaRPr lang="en-US" sz="2400" b="0" i="0">
              <a:solidFill>
                <a:srgbClr val="374151"/>
              </a:solidFill>
              <a:effectLst/>
              <a:latin typeface="Söhne"/>
            </a:endParaRPr>
          </a:p>
          <a:p>
            <a:pPr algn="l"/>
            <a:r>
              <a:rPr lang="en-US" sz="2400" b="0" i="0">
                <a:solidFill>
                  <a:srgbClr val="374151"/>
                </a:solidFill>
                <a:effectLst/>
                <a:latin typeface="Söhne"/>
              </a:rPr>
              <a:t>The attribute with the lowest Gini index after the split is chosen as the root node of the next subtree, and the process is repeated recursively until a stopping criterion is met.</a:t>
            </a:r>
          </a:p>
        </p:txBody>
      </p:sp>
      <p:pic>
        <p:nvPicPr>
          <p:cNvPr id="2050" name="Picture 2" descr="Gini Index Calculation">
            <a:extLst>
              <a:ext uri="{FF2B5EF4-FFF2-40B4-BE49-F238E27FC236}">
                <a16:creationId xmlns:a16="http://schemas.microsoft.com/office/drawing/2014/main" id="{43BD28C8-3F24-CFCA-31DD-03E544C23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343" y="4810985"/>
            <a:ext cx="4106060" cy="143712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ntropy in Machine Learning - Javatpoint">
            <a:extLst>
              <a:ext uri="{FF2B5EF4-FFF2-40B4-BE49-F238E27FC236}">
                <a16:creationId xmlns:a16="http://schemas.microsoft.com/office/drawing/2014/main" id="{E10445B4-B2D9-D937-699F-1C6DB58552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37" y="4810985"/>
            <a:ext cx="4416204" cy="1545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592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Entropy</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14</a:t>
            </a:fld>
            <a:endParaRPr lang="en-US"/>
          </a:p>
        </p:txBody>
      </p:sp>
      <p:sp>
        <p:nvSpPr>
          <p:cNvPr id="5" name="Content Placeholder 2">
            <a:extLst>
              <a:ext uri="{FF2B5EF4-FFF2-40B4-BE49-F238E27FC236}">
                <a16:creationId xmlns:a16="http://schemas.microsoft.com/office/drawing/2014/main" id="{57E06FA9-952A-3CA4-DE3C-73FA012F9834}"/>
              </a:ext>
            </a:extLst>
          </p:cNvPr>
          <p:cNvSpPr txBox="1">
            <a:spLocks/>
          </p:cNvSpPr>
          <p:nvPr/>
        </p:nvSpPr>
        <p:spPr>
          <a:xfrm>
            <a:off x="75414" y="6477225"/>
            <a:ext cx="9558287" cy="352496"/>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hlinkClick r:id="rId2"/>
              </a:rPr>
              <a:t>https://www.learnbymarketing.com/481/decision-tree-flavors-gini-info-gain/</a:t>
            </a:r>
            <a:r>
              <a:rPr lang="en-US" sz="1800"/>
              <a:t> </a:t>
            </a:r>
            <a:endParaRPr lang="en-US" sz="1800" dirty="0"/>
          </a:p>
        </p:txBody>
      </p:sp>
      <p:sp>
        <p:nvSpPr>
          <p:cNvPr id="12" name="TextBox 11">
            <a:extLst>
              <a:ext uri="{FF2B5EF4-FFF2-40B4-BE49-F238E27FC236}">
                <a16:creationId xmlns:a16="http://schemas.microsoft.com/office/drawing/2014/main" id="{16843318-CFB4-1DE6-9D8E-EEFE8C6A87F5}"/>
              </a:ext>
            </a:extLst>
          </p:cNvPr>
          <p:cNvSpPr txBox="1"/>
          <p:nvPr/>
        </p:nvSpPr>
        <p:spPr>
          <a:xfrm>
            <a:off x="75414" y="750686"/>
            <a:ext cx="7295418" cy="2862322"/>
          </a:xfrm>
          <a:prstGeom prst="rect">
            <a:avLst/>
          </a:prstGeom>
          <a:noFill/>
        </p:spPr>
        <p:txBody>
          <a:bodyPr wrap="square">
            <a:spAutoFit/>
          </a:bodyPr>
          <a:lstStyle/>
          <a:p>
            <a:r>
              <a:rPr lang="en-US">
                <a:solidFill>
                  <a:srgbClr val="374151"/>
                </a:solidFill>
                <a:latin typeface="Söhne"/>
              </a:rPr>
              <a:t>E</a:t>
            </a:r>
            <a:r>
              <a:rPr lang="en-US" b="0" i="0">
                <a:solidFill>
                  <a:srgbClr val="374151"/>
                </a:solidFill>
                <a:effectLst/>
                <a:latin typeface="Söhne"/>
              </a:rPr>
              <a:t>ntropy is a measure of the impurity or disorder of a set of examples or data points. </a:t>
            </a:r>
          </a:p>
          <a:p>
            <a:endParaRPr lang="en-US" b="0" i="0">
              <a:solidFill>
                <a:srgbClr val="374151"/>
              </a:solidFill>
              <a:effectLst/>
              <a:latin typeface="Söhne"/>
            </a:endParaRPr>
          </a:p>
          <a:p>
            <a:r>
              <a:rPr lang="en-US" b="0" i="0">
                <a:solidFill>
                  <a:srgbClr val="374151"/>
                </a:solidFill>
                <a:effectLst/>
                <a:latin typeface="Söhne"/>
              </a:rPr>
              <a:t>It is commonly used in decision trees and other classification algorithms to determine the optimal splitting criteria for a given set of data.</a:t>
            </a:r>
          </a:p>
          <a:p>
            <a:endParaRPr lang="en-US">
              <a:solidFill>
                <a:srgbClr val="374151"/>
              </a:solidFill>
              <a:latin typeface="Söhne"/>
            </a:endParaRPr>
          </a:p>
          <a:p>
            <a:r>
              <a:rPr lang="en-US" b="0" i="0">
                <a:solidFill>
                  <a:srgbClr val="374151"/>
                </a:solidFill>
                <a:effectLst/>
                <a:latin typeface="Söhne"/>
              </a:rPr>
              <a:t>When all the data points in a set belong to the same class, the entropy is zero, indicating perfect purity. On the other hand, if the data points are evenly distributed among all the classes, the entropy is maximum, indicating complete disorder or randomness.</a:t>
            </a:r>
            <a:endParaRPr lang="en-US"/>
          </a:p>
        </p:txBody>
      </p:sp>
      <p:pic>
        <p:nvPicPr>
          <p:cNvPr id="1026" name="Picture 2" descr="Entropy in Machine Learning - Javatpoint">
            <a:extLst>
              <a:ext uri="{FF2B5EF4-FFF2-40B4-BE49-F238E27FC236}">
                <a16:creationId xmlns:a16="http://schemas.microsoft.com/office/drawing/2014/main" id="{5A638B5F-6A51-7F0A-F065-249F30EE6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4" y="4159477"/>
            <a:ext cx="4951577" cy="17327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ntropy in Machine Learning - Javatpoint">
            <a:extLst>
              <a:ext uri="{FF2B5EF4-FFF2-40B4-BE49-F238E27FC236}">
                <a16:creationId xmlns:a16="http://schemas.microsoft.com/office/drawing/2014/main" id="{2DB6C109-854A-B182-C5BF-4690A6D87E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05" y="4102400"/>
            <a:ext cx="5131395" cy="1942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ntropy">
            <a:extLst>
              <a:ext uri="{FF2B5EF4-FFF2-40B4-BE49-F238E27FC236}">
                <a16:creationId xmlns:a16="http://schemas.microsoft.com/office/drawing/2014/main" id="{61110977-7030-1DB4-E81B-F6E58B6FC3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0832" y="980873"/>
            <a:ext cx="4029986" cy="12853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FACFADF-67C7-38C2-14E6-46D59470C524}"/>
              </a:ext>
            </a:extLst>
          </p:cNvPr>
          <p:cNvSpPr txBox="1"/>
          <p:nvPr/>
        </p:nvSpPr>
        <p:spPr>
          <a:xfrm>
            <a:off x="7370832" y="2339456"/>
            <a:ext cx="4029986" cy="646331"/>
          </a:xfrm>
          <a:prstGeom prst="rect">
            <a:avLst/>
          </a:prstGeom>
          <a:noFill/>
        </p:spPr>
        <p:txBody>
          <a:bodyPr wrap="square">
            <a:spAutoFit/>
          </a:bodyPr>
          <a:lstStyle/>
          <a:p>
            <a:r>
              <a:rPr lang="en-US" b="0" i="0">
                <a:solidFill>
                  <a:srgbClr val="374151"/>
                </a:solidFill>
                <a:effectLst/>
                <a:latin typeface="Söhne"/>
              </a:rPr>
              <a:t>where p(x) is the probability of a data point belonging to a particular class.</a:t>
            </a:r>
            <a:endParaRPr lang="en-US"/>
          </a:p>
        </p:txBody>
      </p:sp>
    </p:spTree>
    <p:extLst>
      <p:ext uri="{BB962C8B-B14F-4D97-AF65-F5344CB8AC3E}">
        <p14:creationId xmlns:p14="http://schemas.microsoft.com/office/powerpoint/2010/main" val="2978598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Advantages of CART</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400137" y="1490685"/>
            <a:ext cx="10203011" cy="3416320"/>
          </a:xfrm>
          <a:prstGeom prst="rect">
            <a:avLst/>
          </a:prstGeom>
          <a:noFill/>
        </p:spPr>
        <p:txBody>
          <a:bodyPr wrap="square">
            <a:spAutoFit/>
          </a:bodyPr>
          <a:lstStyle/>
          <a:p>
            <a:pPr marL="285750" indent="-285750">
              <a:buFont typeface="Arial" panose="020B0604020202020204" pitchFamily="34" charset="0"/>
              <a:buChar char="•"/>
            </a:pPr>
            <a:r>
              <a:rPr lang="en-US" sz="2400"/>
              <a:t>A CART model is more easily interpretable than a linear regression or logistic regression model</a:t>
            </a:r>
          </a:p>
          <a:p>
            <a:endParaRPr lang="en-US" sz="2400"/>
          </a:p>
          <a:p>
            <a:pPr marL="742950" lvl="1" indent="-285750">
              <a:buFont typeface="Arial" panose="020B0604020202020204" pitchFamily="34" charset="0"/>
              <a:buChar char="•"/>
            </a:pPr>
            <a:r>
              <a:rPr lang="en-US" sz="2400"/>
              <a:t>Simple rules to determine a prediction </a:t>
            </a:r>
          </a:p>
          <a:p>
            <a:pPr marL="742950" lvl="1" indent="-285750">
              <a:buFont typeface="Arial" panose="020B0604020202020204" pitchFamily="34" charset="0"/>
              <a:buChar char="•"/>
            </a:pPr>
            <a:r>
              <a:rPr lang="en-US" sz="2400"/>
              <a:t>Provides transparency to decision process </a:t>
            </a:r>
          </a:p>
          <a:p>
            <a:pPr marL="742950" lvl="1" indent="-285750">
              <a:buFont typeface="Arial" panose="020B0604020202020204" pitchFamily="34" charset="0"/>
              <a:buChar char="•"/>
            </a:pPr>
            <a:r>
              <a:rPr lang="en-US" sz="2400"/>
              <a:t>Graphical display </a:t>
            </a:r>
          </a:p>
          <a:p>
            <a:pPr marL="285750" indent="-285750">
              <a:buFont typeface="Arial" panose="020B0604020202020204" pitchFamily="34" charset="0"/>
              <a:buChar char="•"/>
            </a:pPr>
            <a:endParaRPr lang="en-US" sz="2400"/>
          </a:p>
          <a:p>
            <a:pPr marL="285750" indent="-285750">
              <a:buFont typeface="Arial" panose="020B0604020202020204" pitchFamily="34" charset="0"/>
              <a:buChar char="•"/>
            </a:pPr>
            <a:r>
              <a:rPr lang="en-US" sz="2400"/>
              <a:t>CART selects the significant variables for us</a:t>
            </a:r>
          </a:p>
          <a:p>
            <a:pPr marL="285750" indent="-285750">
              <a:buFont typeface="Arial" panose="020B0604020202020204" pitchFamily="34" charset="0"/>
              <a:buChar char="•"/>
            </a:pPr>
            <a:r>
              <a:rPr lang="en-US" sz="2400"/>
              <a:t>CART can deliver nonlinear predictions</a:t>
            </a:r>
          </a:p>
        </p:txBody>
      </p:sp>
    </p:spTree>
    <p:extLst>
      <p:ext uri="{BB962C8B-B14F-4D97-AF65-F5344CB8AC3E}">
        <p14:creationId xmlns:p14="http://schemas.microsoft.com/office/powerpoint/2010/main" val="3005134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References</a:t>
            </a:r>
            <a:endParaRPr lang="en-US" dirty="0">
              <a:solidFill>
                <a:srgbClr val="04B452"/>
              </a:solidFill>
            </a:endParaRPr>
          </a:p>
        </p:txBody>
      </p:sp>
      <p:pic>
        <p:nvPicPr>
          <p:cNvPr id="6" name="Picture 5">
            <a:extLst>
              <a:ext uri="{FF2B5EF4-FFF2-40B4-BE49-F238E27FC236}">
                <a16:creationId xmlns:a16="http://schemas.microsoft.com/office/drawing/2014/main" id="{FBD435D0-2748-6055-435B-68162F6F3575}"/>
              </a:ext>
            </a:extLst>
          </p:cNvPr>
          <p:cNvPicPr>
            <a:picLocks noChangeAspect="1"/>
          </p:cNvPicPr>
          <p:nvPr/>
        </p:nvPicPr>
        <p:blipFill>
          <a:blip r:embed="rId2"/>
          <a:stretch>
            <a:fillRect/>
          </a:stretch>
        </p:blipFill>
        <p:spPr>
          <a:xfrm>
            <a:off x="4454660" y="765883"/>
            <a:ext cx="752475" cy="504825"/>
          </a:xfrm>
          <a:prstGeom prst="rect">
            <a:avLst/>
          </a:prstGeom>
        </p:spPr>
      </p:pic>
      <p:pic>
        <p:nvPicPr>
          <p:cNvPr id="7" name="Picture 6">
            <a:extLst>
              <a:ext uri="{FF2B5EF4-FFF2-40B4-BE49-F238E27FC236}">
                <a16:creationId xmlns:a16="http://schemas.microsoft.com/office/drawing/2014/main" id="{F44988B5-EBD1-284E-E29D-C667D08D12D2}"/>
              </a:ext>
            </a:extLst>
          </p:cNvPr>
          <p:cNvPicPr>
            <a:picLocks noChangeAspect="1"/>
          </p:cNvPicPr>
          <p:nvPr/>
        </p:nvPicPr>
        <p:blipFill>
          <a:blip r:embed="rId3"/>
          <a:stretch>
            <a:fillRect/>
          </a:stretch>
        </p:blipFill>
        <p:spPr>
          <a:xfrm>
            <a:off x="9115323" y="870827"/>
            <a:ext cx="1215451" cy="438150"/>
          </a:xfrm>
          <a:prstGeom prst="rect">
            <a:avLst/>
          </a:prstGeom>
        </p:spPr>
      </p:pic>
      <p:sp>
        <p:nvSpPr>
          <p:cNvPr id="8" name="TextBox 7">
            <a:extLst>
              <a:ext uri="{FF2B5EF4-FFF2-40B4-BE49-F238E27FC236}">
                <a16:creationId xmlns:a16="http://schemas.microsoft.com/office/drawing/2014/main" id="{EEF6EF67-08B8-F4C4-89F8-65A0471AD2F1}"/>
              </a:ext>
            </a:extLst>
          </p:cNvPr>
          <p:cNvSpPr txBox="1"/>
          <p:nvPr/>
        </p:nvSpPr>
        <p:spPr>
          <a:xfrm>
            <a:off x="273677" y="1292516"/>
            <a:ext cx="10203011" cy="3046988"/>
          </a:xfrm>
          <a:prstGeom prst="rect">
            <a:avLst/>
          </a:prstGeom>
          <a:noFill/>
        </p:spPr>
        <p:txBody>
          <a:bodyPr wrap="square">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hlinkClick r:id="rId4"/>
              </a:rPr>
              <a:t>https://www.kdnuggets.com/2020/01/decision-tree-algorithm-explained.html</a:t>
            </a:r>
            <a:r>
              <a:rPr lang="en-US" sz="2400" dirty="0"/>
              <a:t>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hlinkClick r:id="rId5"/>
              </a:rPr>
              <a:t>https://medium.com/geekculture/applying-7-classification-algorithms-on-the-titanic-dataset-278ef222b53c</a:t>
            </a: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066065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7503" y="1798431"/>
            <a:ext cx="7772400" cy="1470025"/>
          </a:xfrm>
        </p:spPr>
        <p:txBody>
          <a:bodyPr>
            <a:normAutofit fontScale="90000"/>
          </a:bodyPr>
          <a:lstStyle/>
          <a:p>
            <a:r>
              <a:rPr lang="en-US" sz="4800" dirty="0">
                <a:solidFill>
                  <a:srgbClr val="04B452"/>
                </a:solidFill>
              </a:rPr>
              <a:t>Any Questions?</a:t>
            </a:r>
            <a:br>
              <a:rPr lang="en-US" sz="4800" dirty="0">
                <a:solidFill>
                  <a:srgbClr val="04B452"/>
                </a:solidFill>
              </a:rPr>
            </a:br>
            <a:br>
              <a:rPr lang="en-US" sz="4800" dirty="0">
                <a:solidFill>
                  <a:srgbClr val="04B452"/>
                </a:solidFill>
              </a:rPr>
            </a:br>
            <a:r>
              <a:rPr lang="en-US" sz="4800" dirty="0">
                <a:solidFill>
                  <a:srgbClr val="04B452"/>
                </a:solidFill>
              </a:rPr>
              <a:t>Thank You.</a:t>
            </a:r>
          </a:p>
        </p:txBody>
      </p:sp>
      <p:sp>
        <p:nvSpPr>
          <p:cNvPr id="4" name="TextBox 4">
            <a:extLst>
              <a:ext uri="{FF2B5EF4-FFF2-40B4-BE49-F238E27FC236}">
                <a16:creationId xmlns:a16="http://schemas.microsoft.com/office/drawing/2014/main" id="{205CBE0D-6E88-49A9-9F78-FA8F4A2A4679}"/>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TextBox 6">
            <a:extLst>
              <a:ext uri="{FF2B5EF4-FFF2-40B4-BE49-F238E27FC236}">
                <a16:creationId xmlns:a16="http://schemas.microsoft.com/office/drawing/2014/main" id="{9C07F57A-79B6-40CD-A6E6-C4D610B69EBC}"/>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1531</TotalTime>
  <Words>1066</Words>
  <Application>Microsoft Office PowerPoint</Application>
  <PresentationFormat>Widescreen</PresentationFormat>
  <Paragraphs>278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Söhne</vt:lpstr>
      <vt:lpstr>Wingdings</vt:lpstr>
      <vt:lpstr>Office Theme</vt:lpstr>
      <vt:lpstr>PowerPoint Presentation</vt:lpstr>
      <vt:lpstr>Classification and Regression Trees (CART)</vt:lpstr>
      <vt:lpstr>Some sample data</vt:lpstr>
      <vt:lpstr>Decision Tree based on GPA</vt:lpstr>
      <vt:lpstr>Decision Tree based on GPA and some Experience</vt:lpstr>
      <vt:lpstr>Decision Tree based on GPA and Experience</vt:lpstr>
      <vt:lpstr>Decision Tree : Model Summary</vt:lpstr>
      <vt:lpstr>Predictions follow a simple path</vt:lpstr>
      <vt:lpstr>Some sample data</vt:lpstr>
      <vt:lpstr>Predictions (regression and classification)</vt:lpstr>
      <vt:lpstr>Decision Nodes, Leaf Nodes</vt:lpstr>
      <vt:lpstr>Splitting Decisions and Model Performance</vt:lpstr>
      <vt:lpstr>Gini Index</vt:lpstr>
      <vt:lpstr>Entropy</vt:lpstr>
      <vt:lpstr>Advantages of CART</vt:lpstr>
      <vt:lpstr>References</vt:lpstr>
      <vt:lpstr>Any Questions?  Thank You.</vt:lpstr>
    </vt:vector>
  </TitlesOfParts>
  <Company>Fabric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Harwood</dc:creator>
  <cp:keywords>C_Unrestricted</cp:keywords>
  <cp:lastModifiedBy>Jasthi, Jasthi (DI SW PLM LCS DEVOPS)</cp:lastModifiedBy>
  <cp:revision>79</cp:revision>
  <dcterms:created xsi:type="dcterms:W3CDTF">2014-09-03T22:10:43Z</dcterms:created>
  <dcterms:modified xsi:type="dcterms:W3CDTF">2026-01-10T13:36:11Z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onfidentiality">
    <vt:lpwstr>Unrestricted</vt:lpwstr>
  </property>
  <property fmtid="{D5CDD505-2E9C-101B-9397-08002B2CF9AE}" pid="3" name="sodocoClasLang">
    <vt:lpwstr>Unrestricted</vt:lpwstr>
  </property>
  <property fmtid="{D5CDD505-2E9C-101B-9397-08002B2CF9AE}" pid="4" name="sodocoClasLangId">
    <vt:i4>0</vt:i4>
  </property>
  <property fmtid="{D5CDD505-2E9C-101B-9397-08002B2CF9AE}" pid="5" name="sodocoClasId">
    <vt:i4>0</vt:i4>
  </property>
  <property fmtid="{D5CDD505-2E9C-101B-9397-08002B2CF9AE}" pid="6" name="MSIP_Label_6f75f480-7803-4ee9-bb54-84d0635fdbe7_Enabled">
    <vt:lpwstr>true</vt:lpwstr>
  </property>
  <property fmtid="{D5CDD505-2E9C-101B-9397-08002B2CF9AE}" pid="7" name="MSIP_Label_6f75f480-7803-4ee9-bb54-84d0635fdbe7_SetDate">
    <vt:lpwstr>2023-10-25T01:00:30Z</vt:lpwstr>
  </property>
  <property fmtid="{D5CDD505-2E9C-101B-9397-08002B2CF9AE}" pid="8" name="MSIP_Label_6f75f480-7803-4ee9-bb54-84d0635fdbe7_Method">
    <vt:lpwstr>Privileged</vt:lpwstr>
  </property>
  <property fmtid="{D5CDD505-2E9C-101B-9397-08002B2CF9AE}" pid="9" name="MSIP_Label_6f75f480-7803-4ee9-bb54-84d0635fdbe7_Name">
    <vt:lpwstr>unrestricted</vt:lpwstr>
  </property>
  <property fmtid="{D5CDD505-2E9C-101B-9397-08002B2CF9AE}" pid="10" name="MSIP_Label_6f75f480-7803-4ee9-bb54-84d0635fdbe7_SiteId">
    <vt:lpwstr>38ae3bcd-9579-4fd4-adda-b42e1495d55a</vt:lpwstr>
  </property>
  <property fmtid="{D5CDD505-2E9C-101B-9397-08002B2CF9AE}" pid="11" name="MSIP_Label_6f75f480-7803-4ee9-bb54-84d0635fdbe7_ActionId">
    <vt:lpwstr>5430a409-3ccc-4c9c-865b-e07439b2d2a8</vt:lpwstr>
  </property>
  <property fmtid="{D5CDD505-2E9C-101B-9397-08002B2CF9AE}" pid="12" name="MSIP_Label_6f75f480-7803-4ee9-bb54-84d0635fdbe7_ContentBits">
    <vt:lpwstr>0</vt:lpwstr>
  </property>
  <property fmtid="{D5CDD505-2E9C-101B-9397-08002B2CF9AE}" pid="13" name="Document_Confidentiality">
    <vt:lpwstr>Unrestricted</vt:lpwstr>
  </property>
</Properties>
</file>