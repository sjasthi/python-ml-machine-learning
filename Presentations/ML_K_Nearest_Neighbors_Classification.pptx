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9" r:id="rId2"/>
    <p:sldId id="259" r:id="rId3"/>
    <p:sldId id="342" r:id="rId4"/>
    <p:sldId id="349" r:id="rId5"/>
    <p:sldId id="341" r:id="rId6"/>
    <p:sldId id="344" r:id="rId7"/>
    <p:sldId id="343" r:id="rId8"/>
    <p:sldId id="340" r:id="rId9"/>
    <p:sldId id="328" r:id="rId10"/>
    <p:sldId id="346" r:id="rId11"/>
    <p:sldId id="338" r:id="rId12"/>
    <p:sldId id="345" r:id="rId13"/>
    <p:sldId id="339" r:id="rId14"/>
    <p:sldId id="347" r:id="rId15"/>
    <p:sldId id="348" r:id="rId16"/>
    <p:sldId id="25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B4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76" d="100"/>
          <a:sy n="76" d="100"/>
        </p:scale>
        <p:origin x="917" y="72"/>
      </p:cViewPr>
      <p:guideLst>
        <p:guide orient="horz" pos="2160"/>
        <p:guide pos="3796"/>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9A787-2230-4FF8-8817-159D6BD7B5AE}" type="datetimeFigureOut">
              <a:rPr lang="en-US" smtClean="0"/>
              <a:t>12/6/2023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8C940-6784-4F9D-A258-868AAE24D092}" type="slidenum">
              <a:rPr lang="en-US" smtClean="0"/>
              <a:t>‹#›</a:t>
            </a:fld>
            <a:endParaRPr lang="en-US"/>
          </a:p>
        </p:txBody>
      </p:sp>
    </p:spTree>
    <p:extLst>
      <p:ext uri="{BB962C8B-B14F-4D97-AF65-F5344CB8AC3E}">
        <p14:creationId xmlns:p14="http://schemas.microsoft.com/office/powerpoint/2010/main" val="338385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hyperlink" Target="mailto:Siva.Jasthi@metrostate.edu"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 name="TextBox 9">
            <a:extLst>
              <a:ext uri="{FF2B5EF4-FFF2-40B4-BE49-F238E27FC236}">
                <a16:creationId xmlns:a16="http://schemas.microsoft.com/office/drawing/2014/main" id="{E26F8C1F-669D-4F69-9022-AAB01B7F122A}"/>
              </a:ext>
            </a:extLst>
          </p:cNvPr>
          <p:cNvSpPr txBox="1"/>
          <p:nvPr userDrawn="1"/>
        </p:nvSpPr>
        <p:spPr>
          <a:xfrm>
            <a:off x="1" y="6560598"/>
            <a:ext cx="12191999" cy="276999"/>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hlinkClick r:id="rId2"/>
              </a:rPr>
              <a:t>Siva.Jasthi@metrostate.edu</a:t>
            </a:r>
            <a:r>
              <a:rPr lang="en-US" sz="1200" dirty="0"/>
              <a:t>                  ICS 352 – Machine Learning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a:buFont typeface="Wingdings" panose="05000000000000000000" pitchFamily="2" charset="2"/>
              <a:buChar char="§"/>
              <a:defRPr/>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AA70F276-1833-4A75-9C1D-A56E2295A68D}" type="datetimeFigureOut">
              <a:rPr lang="en-US" smtClean="0"/>
              <a:t>12/6/2023</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501589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Siva.Jasthi@metrostate.edu</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ICS 352 – Machine Learning ()</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817549-C8F9-8740-97B0-14CD78FB0450}" type="slidenum">
              <a: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image" Target="../media/image1.wmf"/><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towardsdatascience.com/9-distance-measures-in-data-science-918109d069fa"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39BF4AB0-9623-4F15-9723-5E7FE667B513}"/>
              </a:ext>
            </a:extLst>
          </p:cNvPr>
          <p:cNvSpPr>
            <a:spLocks noGrp="1"/>
          </p:cNvSpPr>
          <p:nvPr>
            <p:ph type="subTitle" idx="1"/>
          </p:nvPr>
        </p:nvSpPr>
        <p:spPr>
          <a:xfrm>
            <a:off x="2183685" y="4968672"/>
            <a:ext cx="7516166" cy="1356787"/>
          </a:xfrm>
        </p:spPr>
        <p:txBody>
          <a:bodyPr>
            <a:normAutofit/>
          </a:bodyPr>
          <a:lstStyle/>
          <a:p>
            <a:pPr>
              <a:buClrTx/>
              <a:buSzTx/>
              <a:buFontTx/>
              <a:buNone/>
            </a:pPr>
            <a:r>
              <a:rPr lang="en-US" altLang="en-US" sz="2400" b="1" dirty="0"/>
              <a:t>Siva R Jasthi</a:t>
            </a:r>
            <a:endParaRPr lang="en-US" altLang="en-US" sz="2400" dirty="0"/>
          </a:p>
          <a:p>
            <a:pPr>
              <a:buClrTx/>
              <a:buSzTx/>
              <a:buFontTx/>
              <a:buNone/>
            </a:pPr>
            <a:r>
              <a:rPr lang="en-US" altLang="en-US" sz="2400" dirty="0"/>
              <a:t>Computer Science and Cybersecurity</a:t>
            </a:r>
          </a:p>
          <a:p>
            <a:pPr>
              <a:buClrTx/>
              <a:buSzTx/>
              <a:buFontTx/>
              <a:buNone/>
            </a:pPr>
            <a:r>
              <a:rPr lang="en-US" altLang="en-US" sz="2400" dirty="0"/>
              <a:t>Metropolitan State University</a:t>
            </a:r>
          </a:p>
          <a:p>
            <a:endParaRPr lang="en-US" sz="2400" b="1" dirty="0">
              <a:solidFill>
                <a:srgbClr val="04B452"/>
              </a:solidFill>
            </a:endParaRPr>
          </a:p>
        </p:txBody>
      </p:sp>
      <p:sp>
        <p:nvSpPr>
          <p:cNvPr id="9" name="Subtitle 2">
            <a:extLst>
              <a:ext uri="{FF2B5EF4-FFF2-40B4-BE49-F238E27FC236}">
                <a16:creationId xmlns:a16="http://schemas.microsoft.com/office/drawing/2014/main" id="{F9471A7B-0F91-466C-9FCD-728090F5A931}"/>
              </a:ext>
            </a:extLst>
          </p:cNvPr>
          <p:cNvSpPr txBox="1">
            <a:spLocks/>
          </p:cNvSpPr>
          <p:nvPr/>
        </p:nvSpPr>
        <p:spPr>
          <a:xfrm>
            <a:off x="1774357" y="2837194"/>
            <a:ext cx="8334823" cy="1196560"/>
          </a:xfrm>
          <a:prstGeom prst="rect">
            <a:avLst/>
          </a:prstGeom>
          <a:solidFill>
            <a:srgbClr val="00B050"/>
          </a:solidFill>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2400" b="1">
              <a:solidFill>
                <a:schemeClr val="bg1"/>
              </a:solidFill>
            </a:endParaRPr>
          </a:p>
          <a:p>
            <a:r>
              <a:rPr lang="en-US" sz="2400" b="1">
                <a:solidFill>
                  <a:schemeClr val="bg1"/>
                </a:solidFill>
              </a:rPr>
              <a:t>K Nearest Neighbors</a:t>
            </a:r>
            <a:endParaRPr lang="en-US" sz="2400" b="1" dirty="0">
              <a:solidFill>
                <a:schemeClr val="bg1"/>
              </a:solidFill>
            </a:endParaRPr>
          </a:p>
        </p:txBody>
      </p:sp>
      <p:graphicFrame>
        <p:nvGraphicFramePr>
          <p:cNvPr id="4" name="Table 5">
            <a:extLst>
              <a:ext uri="{FF2B5EF4-FFF2-40B4-BE49-F238E27FC236}">
                <a16:creationId xmlns:a16="http://schemas.microsoft.com/office/drawing/2014/main" id="{78989B7E-3B2D-44AE-8C5E-703EF42AD523}"/>
              </a:ext>
            </a:extLst>
          </p:cNvPr>
          <p:cNvGraphicFramePr>
            <a:graphicFrameLocks noGrp="1"/>
          </p:cNvGraphicFramePr>
          <p:nvPr>
            <p:extLst>
              <p:ext uri="{D42A27DB-BD31-4B8C-83A1-F6EECF244321}">
                <p14:modId xmlns:p14="http://schemas.microsoft.com/office/powerpoint/2010/main" val="2973826836"/>
              </p:ext>
            </p:extLst>
          </p:nvPr>
        </p:nvGraphicFramePr>
        <p:xfrm>
          <a:off x="2032000" y="719666"/>
          <a:ext cx="8128000" cy="1854200"/>
        </p:xfrm>
        <a:graphic>
          <a:graphicData uri="http://schemas.openxmlformats.org/drawingml/2006/table">
            <a:tbl>
              <a:tblPr firstRow="1" bandRow="1">
                <a:tableStyleId>{5940675A-B579-460E-94D1-54222C63F5DA}</a:tableStyleId>
              </a:tblPr>
              <a:tblGrid>
                <a:gridCol w="1784626">
                  <a:extLst>
                    <a:ext uri="{9D8B030D-6E8A-4147-A177-3AD203B41FA5}">
                      <a16:colId xmlns:a16="http://schemas.microsoft.com/office/drawing/2014/main" val="2221937530"/>
                    </a:ext>
                  </a:extLst>
                </a:gridCol>
                <a:gridCol w="6343374">
                  <a:extLst>
                    <a:ext uri="{9D8B030D-6E8A-4147-A177-3AD203B41FA5}">
                      <a16:colId xmlns:a16="http://schemas.microsoft.com/office/drawing/2014/main" val="379968204"/>
                    </a:ext>
                  </a:extLst>
                </a:gridCol>
              </a:tblGrid>
              <a:tr h="370840">
                <a:tc>
                  <a:txBody>
                    <a:bodyPr/>
                    <a:lstStyle/>
                    <a:p>
                      <a:r>
                        <a:rPr lang="en-US" dirty="0"/>
                        <a:t>Course</a:t>
                      </a:r>
                    </a:p>
                  </a:txBody>
                  <a:tcPr/>
                </a:tc>
                <a:tc>
                  <a:txBody>
                    <a:bodyPr/>
                    <a:lstStyle/>
                    <a:p>
                      <a:r>
                        <a:rPr lang="en-US" dirty="0"/>
                        <a:t>ICS 352 Machine Learning  </a:t>
                      </a:r>
                    </a:p>
                  </a:txBody>
                  <a:tcPr/>
                </a:tc>
                <a:extLst>
                  <a:ext uri="{0D108BD9-81ED-4DB2-BD59-A6C34878D82A}">
                    <a16:rowId xmlns:a16="http://schemas.microsoft.com/office/drawing/2014/main" val="2642101462"/>
                  </a:ext>
                </a:extLst>
              </a:tr>
              <a:tr h="370840">
                <a:tc>
                  <a:txBody>
                    <a:bodyPr/>
                    <a:lstStyle/>
                    <a:p>
                      <a:r>
                        <a:rPr lang="en-US" dirty="0"/>
                        <a:t>Term</a:t>
                      </a:r>
                    </a:p>
                  </a:txBody>
                  <a:tcPr/>
                </a:tc>
                <a:tc>
                  <a:txBody>
                    <a:bodyPr/>
                    <a:lstStyle/>
                    <a:p>
                      <a:r>
                        <a:rPr lang="en-US" dirty="0"/>
                        <a:t> </a:t>
                      </a:r>
                    </a:p>
                  </a:txBody>
                  <a:tcPr/>
                </a:tc>
                <a:extLst>
                  <a:ext uri="{0D108BD9-81ED-4DB2-BD59-A6C34878D82A}">
                    <a16:rowId xmlns:a16="http://schemas.microsoft.com/office/drawing/2014/main" val="176277694"/>
                  </a:ext>
                </a:extLst>
              </a:tr>
              <a:tr h="370840">
                <a:tc>
                  <a:txBody>
                    <a:bodyPr/>
                    <a:lstStyle/>
                    <a:p>
                      <a:r>
                        <a:rPr lang="en-US" dirty="0"/>
                        <a:t>Week</a:t>
                      </a:r>
                    </a:p>
                  </a:txBody>
                  <a:tcPr/>
                </a:tc>
                <a:tc>
                  <a:txBody>
                    <a:bodyPr/>
                    <a:lstStyle/>
                    <a:p>
                      <a:endParaRPr lang="en-US" dirty="0"/>
                    </a:p>
                  </a:txBody>
                  <a:tcPr/>
                </a:tc>
                <a:extLst>
                  <a:ext uri="{0D108BD9-81ED-4DB2-BD59-A6C34878D82A}">
                    <a16:rowId xmlns:a16="http://schemas.microsoft.com/office/drawing/2014/main" val="1975050456"/>
                  </a:ext>
                </a:extLst>
              </a:tr>
              <a:tr h="370840">
                <a:tc>
                  <a:txBody>
                    <a:bodyPr/>
                    <a:lstStyle/>
                    <a:p>
                      <a:r>
                        <a:rPr lang="en-US" dirty="0"/>
                        <a:t>Date</a:t>
                      </a:r>
                    </a:p>
                  </a:txBody>
                  <a:tcPr/>
                </a:tc>
                <a:tc>
                  <a:txBody>
                    <a:bodyPr/>
                    <a:lstStyle/>
                    <a:p>
                      <a:endParaRPr lang="en-US" dirty="0"/>
                    </a:p>
                  </a:txBody>
                  <a:tcPr/>
                </a:tc>
                <a:extLst>
                  <a:ext uri="{0D108BD9-81ED-4DB2-BD59-A6C34878D82A}">
                    <a16:rowId xmlns:a16="http://schemas.microsoft.com/office/drawing/2014/main" val="452127006"/>
                  </a:ext>
                </a:extLst>
              </a:tr>
              <a:tr h="370840">
                <a:tc>
                  <a:txBody>
                    <a:bodyPr/>
                    <a:lstStyle/>
                    <a:p>
                      <a:r>
                        <a:rPr lang="en-US" dirty="0"/>
                        <a:t>Chapter. Topic</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270387289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Supervised Learning</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a:bodyPr>
          <a:lstStyle/>
          <a:p>
            <a:r>
              <a:rPr lang="en-US"/>
              <a:t>A training set of examples with the </a:t>
            </a:r>
            <a:r>
              <a:rPr lang="en-US">
                <a:solidFill>
                  <a:schemeClr val="accent5">
                    <a:lumMod val="75000"/>
                  </a:schemeClr>
                </a:solidFill>
              </a:rPr>
              <a:t>correct responses</a:t>
            </a:r>
            <a:r>
              <a:rPr lang="en-US"/>
              <a:t> is provided</a:t>
            </a:r>
          </a:p>
          <a:p>
            <a:r>
              <a:rPr lang="en-US"/>
              <a:t>Based on this training set</a:t>
            </a:r>
          </a:p>
          <a:p>
            <a:pPr lvl="1"/>
            <a:r>
              <a:rPr lang="en-US"/>
              <a:t>The algorithm </a:t>
            </a:r>
            <a:r>
              <a:rPr lang="en-US">
                <a:solidFill>
                  <a:schemeClr val="accent6">
                    <a:lumMod val="75000"/>
                  </a:schemeClr>
                </a:solidFill>
              </a:rPr>
              <a:t>generalizes</a:t>
            </a:r>
            <a:r>
              <a:rPr lang="en-US"/>
              <a:t> to response correctly to all possible inputs</a:t>
            </a:r>
          </a:p>
          <a:p>
            <a:pPr lvl="2"/>
            <a:r>
              <a:rPr lang="en-US"/>
              <a:t>Image recognition</a:t>
            </a:r>
          </a:p>
          <a:p>
            <a:r>
              <a:rPr lang="en-US"/>
              <a:t>Known as learning from exemplars</a:t>
            </a:r>
            <a:endParaRPr lang="en-US" dirty="0"/>
          </a:p>
        </p:txBody>
      </p:sp>
      <p:sp>
        <p:nvSpPr>
          <p:cNvPr id="4" name="Slide Number Placeholder 3"/>
          <p:cNvSpPr>
            <a:spLocks noGrp="1"/>
          </p:cNvSpPr>
          <p:nvPr>
            <p:ph type="sldNum" sz="quarter" idx="12"/>
          </p:nvPr>
        </p:nvSpPr>
        <p:spPr/>
        <p:txBody>
          <a:bodyPr/>
          <a:lstStyle/>
          <a:p>
            <a:fld id="{7957FF81-3E34-4073-BF50-FE78B3EBEE2E}" type="slidenum">
              <a:rPr lang="en-US" smtClean="0"/>
              <a:t>2</a:t>
            </a:fld>
            <a:endParaRPr lang="en-US"/>
          </a:p>
        </p:txBody>
      </p:sp>
    </p:spTree>
    <p:extLst>
      <p:ext uri="{BB962C8B-B14F-4D97-AF65-F5344CB8AC3E}">
        <p14:creationId xmlns:p14="http://schemas.microsoft.com/office/powerpoint/2010/main" val="407727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Nearest Neighbor Classifier</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3</a:t>
            </a:fld>
            <a:endParaRPr lang="en-US"/>
          </a:p>
        </p:txBody>
      </p:sp>
      <p:sp>
        <p:nvSpPr>
          <p:cNvPr id="7" name="Rectangle 3">
            <a:extLst>
              <a:ext uri="{FF2B5EF4-FFF2-40B4-BE49-F238E27FC236}">
                <a16:creationId xmlns:a16="http://schemas.microsoft.com/office/drawing/2014/main" id="{66FC8F73-84E3-A1AE-0B80-1A092FE0C2DB}"/>
              </a:ext>
            </a:extLst>
          </p:cNvPr>
          <p:cNvSpPr txBox="1">
            <a:spLocks noChangeArrowheads="1"/>
          </p:cNvSpPr>
          <p:nvPr/>
        </p:nvSpPr>
        <p:spPr>
          <a:xfrm>
            <a:off x="304799" y="958850"/>
            <a:ext cx="10972799" cy="493776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Wingdings" panose="05000000000000000000" pitchFamily="2" charset="2"/>
              <a:buChar char="§"/>
              <a:defRPr sz="3200" kern="1200">
                <a:solidFill>
                  <a:schemeClr val="tx1"/>
                </a:solidFill>
                <a:latin typeface="+mn-lt"/>
                <a:ea typeface="+mn-ea"/>
                <a:cs typeface="+mn-cs"/>
              </a:defRPr>
            </a:lvl1pPr>
            <a:lvl2pPr marL="685800" indent="-228600" algn="l" defTabSz="457200" rtl="0" eaLnBrk="1" latinLnBrk="0" hangingPunct="1">
              <a:spcBef>
                <a:spcPct val="20000"/>
              </a:spcBef>
              <a:buFont typeface="Wingdings" panose="05000000000000000000" pitchFamily="2" charset="2"/>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Basic idea:</a:t>
            </a:r>
          </a:p>
          <a:p>
            <a:pPr lvl="1"/>
            <a:r>
              <a:rPr lang="en-US"/>
              <a:t>If it walks like a duck, quacks like a duck, then it’s probably a duck</a:t>
            </a:r>
          </a:p>
        </p:txBody>
      </p:sp>
      <p:grpSp>
        <p:nvGrpSpPr>
          <p:cNvPr id="8" name="Group 4">
            <a:extLst>
              <a:ext uri="{FF2B5EF4-FFF2-40B4-BE49-F238E27FC236}">
                <a16:creationId xmlns:a16="http://schemas.microsoft.com/office/drawing/2014/main" id="{63FCE9F4-8E7A-201F-F679-30C1F9642862}"/>
              </a:ext>
            </a:extLst>
          </p:cNvPr>
          <p:cNvGrpSpPr>
            <a:grpSpLocks/>
          </p:cNvGrpSpPr>
          <p:nvPr/>
        </p:nvGrpSpPr>
        <p:grpSpPr bwMode="auto">
          <a:xfrm>
            <a:off x="304800" y="2819400"/>
            <a:ext cx="8229600" cy="3429000"/>
            <a:chOff x="192" y="1776"/>
            <a:chExt cx="5184" cy="2160"/>
          </a:xfrm>
        </p:grpSpPr>
        <p:pic>
          <p:nvPicPr>
            <p:cNvPr id="9" name="Picture 5" descr="j0345807">
              <a:extLst>
                <a:ext uri="{FF2B5EF4-FFF2-40B4-BE49-F238E27FC236}">
                  <a16:creationId xmlns:a16="http://schemas.microsoft.com/office/drawing/2014/main" id="{D9F29C63-A958-2EDC-A587-675A9FB0B5DA}"/>
                </a:ext>
              </a:extLst>
            </p:cNvPr>
            <p:cNvPicPr>
              <a:picLocks noChangeAspect="1" noChangeArrowheads="1"/>
            </p:cNvPicPr>
            <p:nvPr/>
          </p:nvPicPr>
          <p:blipFill>
            <a:blip r:embed="rId2"/>
            <a:srcRect/>
            <a:stretch>
              <a:fillRect/>
            </a:stretch>
          </p:blipFill>
          <p:spPr bwMode="auto">
            <a:xfrm>
              <a:off x="1296" y="2160"/>
              <a:ext cx="528" cy="409"/>
            </a:xfrm>
            <a:prstGeom prst="rect">
              <a:avLst/>
            </a:prstGeom>
            <a:noFill/>
            <a:ln w="9525">
              <a:noFill/>
              <a:miter lim="800000"/>
              <a:headEnd/>
              <a:tailEnd/>
            </a:ln>
          </p:spPr>
        </p:pic>
        <p:pic>
          <p:nvPicPr>
            <p:cNvPr id="10" name="Picture 6" descr="j0239589">
              <a:extLst>
                <a:ext uri="{FF2B5EF4-FFF2-40B4-BE49-F238E27FC236}">
                  <a16:creationId xmlns:a16="http://schemas.microsoft.com/office/drawing/2014/main" id="{0C520DA8-D243-5581-DED3-35CB678B435D}"/>
                </a:ext>
              </a:extLst>
            </p:cNvPr>
            <p:cNvPicPr>
              <a:picLocks noChangeAspect="1" noChangeArrowheads="1"/>
            </p:cNvPicPr>
            <p:nvPr/>
          </p:nvPicPr>
          <p:blipFill>
            <a:blip r:embed="rId3"/>
            <a:srcRect/>
            <a:stretch>
              <a:fillRect/>
            </a:stretch>
          </p:blipFill>
          <p:spPr bwMode="auto">
            <a:xfrm>
              <a:off x="4656" y="2640"/>
              <a:ext cx="720" cy="474"/>
            </a:xfrm>
            <a:prstGeom prst="rect">
              <a:avLst/>
            </a:prstGeom>
            <a:noFill/>
            <a:ln w="9525">
              <a:noFill/>
              <a:miter lim="800000"/>
              <a:headEnd/>
              <a:tailEnd/>
            </a:ln>
          </p:spPr>
        </p:pic>
        <p:pic>
          <p:nvPicPr>
            <p:cNvPr id="11" name="Picture 7" descr="j0350383">
              <a:extLst>
                <a:ext uri="{FF2B5EF4-FFF2-40B4-BE49-F238E27FC236}">
                  <a16:creationId xmlns:a16="http://schemas.microsoft.com/office/drawing/2014/main" id="{AC196D32-2E90-A961-F6F5-CCE0E13020CA}"/>
                </a:ext>
              </a:extLst>
            </p:cNvPr>
            <p:cNvPicPr>
              <a:picLocks noChangeAspect="1" noChangeArrowheads="1"/>
            </p:cNvPicPr>
            <p:nvPr/>
          </p:nvPicPr>
          <p:blipFill>
            <a:blip r:embed="rId4"/>
            <a:srcRect/>
            <a:stretch>
              <a:fillRect/>
            </a:stretch>
          </p:blipFill>
          <p:spPr bwMode="auto">
            <a:xfrm>
              <a:off x="2256" y="1968"/>
              <a:ext cx="444" cy="480"/>
            </a:xfrm>
            <a:prstGeom prst="rect">
              <a:avLst/>
            </a:prstGeom>
            <a:noFill/>
            <a:ln w="9525">
              <a:noFill/>
              <a:miter lim="800000"/>
              <a:headEnd/>
              <a:tailEnd/>
            </a:ln>
          </p:spPr>
        </p:pic>
        <p:pic>
          <p:nvPicPr>
            <p:cNvPr id="12" name="Picture 8" descr="j0330631">
              <a:extLst>
                <a:ext uri="{FF2B5EF4-FFF2-40B4-BE49-F238E27FC236}">
                  <a16:creationId xmlns:a16="http://schemas.microsoft.com/office/drawing/2014/main" id="{1A81D73F-D4B2-4E71-CFA0-03DB3B14FC33}"/>
                </a:ext>
              </a:extLst>
            </p:cNvPr>
            <p:cNvPicPr>
              <a:picLocks noChangeAspect="1" noChangeArrowheads="1"/>
            </p:cNvPicPr>
            <p:nvPr/>
          </p:nvPicPr>
          <p:blipFill>
            <a:blip r:embed="rId5"/>
            <a:srcRect/>
            <a:stretch>
              <a:fillRect/>
            </a:stretch>
          </p:blipFill>
          <p:spPr bwMode="auto">
            <a:xfrm>
              <a:off x="1152" y="2976"/>
              <a:ext cx="373" cy="424"/>
            </a:xfrm>
            <a:prstGeom prst="rect">
              <a:avLst/>
            </a:prstGeom>
            <a:noFill/>
            <a:ln w="9525">
              <a:noFill/>
              <a:miter lim="800000"/>
              <a:headEnd/>
              <a:tailEnd/>
            </a:ln>
          </p:spPr>
        </p:pic>
        <p:pic>
          <p:nvPicPr>
            <p:cNvPr id="13" name="Picture 9" descr="j0350389">
              <a:extLst>
                <a:ext uri="{FF2B5EF4-FFF2-40B4-BE49-F238E27FC236}">
                  <a16:creationId xmlns:a16="http://schemas.microsoft.com/office/drawing/2014/main" id="{D5444C05-CC70-995C-AF19-8082100D705B}"/>
                </a:ext>
              </a:extLst>
            </p:cNvPr>
            <p:cNvPicPr>
              <a:picLocks noChangeAspect="1" noChangeArrowheads="1"/>
            </p:cNvPicPr>
            <p:nvPr/>
          </p:nvPicPr>
          <p:blipFill>
            <a:blip r:embed="rId6"/>
            <a:srcRect/>
            <a:stretch>
              <a:fillRect/>
            </a:stretch>
          </p:blipFill>
          <p:spPr bwMode="auto">
            <a:xfrm>
              <a:off x="2208" y="3168"/>
              <a:ext cx="624" cy="440"/>
            </a:xfrm>
            <a:prstGeom prst="rect">
              <a:avLst/>
            </a:prstGeom>
            <a:noFill/>
            <a:ln w="9525">
              <a:noFill/>
              <a:miter lim="800000"/>
              <a:headEnd/>
              <a:tailEnd/>
            </a:ln>
          </p:spPr>
        </p:pic>
        <p:pic>
          <p:nvPicPr>
            <p:cNvPr id="14" name="Picture 10" descr="j0350356">
              <a:extLst>
                <a:ext uri="{FF2B5EF4-FFF2-40B4-BE49-F238E27FC236}">
                  <a16:creationId xmlns:a16="http://schemas.microsoft.com/office/drawing/2014/main" id="{DF621AF0-865E-9D45-A8CA-61EBB1C193F9}"/>
                </a:ext>
              </a:extLst>
            </p:cNvPr>
            <p:cNvPicPr>
              <a:picLocks noChangeAspect="1" noChangeArrowheads="1"/>
            </p:cNvPicPr>
            <p:nvPr/>
          </p:nvPicPr>
          <p:blipFill>
            <a:blip r:embed="rId7"/>
            <a:srcRect/>
            <a:stretch>
              <a:fillRect/>
            </a:stretch>
          </p:blipFill>
          <p:spPr bwMode="auto">
            <a:xfrm>
              <a:off x="1776" y="2448"/>
              <a:ext cx="720" cy="658"/>
            </a:xfrm>
            <a:prstGeom prst="rect">
              <a:avLst/>
            </a:prstGeom>
            <a:noFill/>
            <a:ln w="9525">
              <a:noFill/>
              <a:miter lim="800000"/>
              <a:headEnd/>
              <a:tailEnd/>
            </a:ln>
          </p:spPr>
        </p:pic>
        <p:sp>
          <p:nvSpPr>
            <p:cNvPr id="15" name="Oval 11">
              <a:extLst>
                <a:ext uri="{FF2B5EF4-FFF2-40B4-BE49-F238E27FC236}">
                  <a16:creationId xmlns:a16="http://schemas.microsoft.com/office/drawing/2014/main" id="{F26EC86F-8851-A3F7-8FFF-8AC9B14DD509}"/>
                </a:ext>
              </a:extLst>
            </p:cNvPr>
            <p:cNvSpPr>
              <a:spLocks noChangeArrowheads="1"/>
            </p:cNvSpPr>
            <p:nvPr/>
          </p:nvSpPr>
          <p:spPr bwMode="auto">
            <a:xfrm>
              <a:off x="816" y="1776"/>
              <a:ext cx="2544" cy="2160"/>
            </a:xfrm>
            <a:prstGeom prst="ellipse">
              <a:avLst/>
            </a:prstGeom>
            <a:noFill/>
            <a:ln w="12700">
              <a:solidFill>
                <a:srgbClr val="FF0000"/>
              </a:solidFill>
              <a:prstDash val="dash"/>
              <a:round/>
              <a:headEnd/>
              <a:tailEnd/>
            </a:ln>
          </p:spPr>
          <p:txBody>
            <a:bodyPr wrap="none" anchor="ctr"/>
            <a:lstStyle/>
            <a:p>
              <a:endParaRPr lang="en-US"/>
            </a:p>
          </p:txBody>
        </p:sp>
        <p:sp>
          <p:nvSpPr>
            <p:cNvPr id="16" name="Text Box 12">
              <a:extLst>
                <a:ext uri="{FF2B5EF4-FFF2-40B4-BE49-F238E27FC236}">
                  <a16:creationId xmlns:a16="http://schemas.microsoft.com/office/drawing/2014/main" id="{2B2E2EAE-D68D-E631-3583-7CFB9B3CFCFD}"/>
                </a:ext>
              </a:extLst>
            </p:cNvPr>
            <p:cNvSpPr txBox="1">
              <a:spLocks noChangeArrowheads="1"/>
            </p:cNvSpPr>
            <p:nvPr/>
          </p:nvSpPr>
          <p:spPr bwMode="auto">
            <a:xfrm>
              <a:off x="192" y="3312"/>
              <a:ext cx="864" cy="404"/>
            </a:xfrm>
            <a:prstGeom prst="rect">
              <a:avLst/>
            </a:prstGeom>
            <a:noFill/>
            <a:ln w="12700">
              <a:noFill/>
              <a:miter lim="800000"/>
              <a:headEnd/>
              <a:tailEnd/>
            </a:ln>
          </p:spPr>
          <p:txBody>
            <a:bodyPr>
              <a:spAutoFit/>
            </a:bodyPr>
            <a:lstStyle/>
            <a:p>
              <a:pPr>
                <a:spcBef>
                  <a:spcPct val="50000"/>
                </a:spcBef>
              </a:pPr>
              <a:r>
                <a:rPr lang="en-US" sz="1800"/>
                <a:t>Training Records</a:t>
              </a:r>
            </a:p>
          </p:txBody>
        </p:sp>
        <p:sp>
          <p:nvSpPr>
            <p:cNvPr id="17" name="Text Box 13">
              <a:extLst>
                <a:ext uri="{FF2B5EF4-FFF2-40B4-BE49-F238E27FC236}">
                  <a16:creationId xmlns:a16="http://schemas.microsoft.com/office/drawing/2014/main" id="{402D835F-6C23-3557-7159-C23C878E6571}"/>
                </a:ext>
              </a:extLst>
            </p:cNvPr>
            <p:cNvSpPr txBox="1">
              <a:spLocks noChangeArrowheads="1"/>
            </p:cNvSpPr>
            <p:nvPr/>
          </p:nvSpPr>
          <p:spPr bwMode="auto">
            <a:xfrm>
              <a:off x="4512" y="2064"/>
              <a:ext cx="864" cy="404"/>
            </a:xfrm>
            <a:prstGeom prst="rect">
              <a:avLst/>
            </a:prstGeom>
            <a:noFill/>
            <a:ln w="12700">
              <a:noFill/>
              <a:miter lim="800000"/>
              <a:headEnd/>
              <a:tailEnd/>
            </a:ln>
          </p:spPr>
          <p:txBody>
            <a:bodyPr>
              <a:spAutoFit/>
            </a:bodyPr>
            <a:lstStyle/>
            <a:p>
              <a:pPr algn="ctr">
                <a:spcBef>
                  <a:spcPct val="50000"/>
                </a:spcBef>
              </a:pPr>
              <a:r>
                <a:rPr lang="en-US" sz="1800"/>
                <a:t>Test Record</a:t>
              </a:r>
            </a:p>
          </p:txBody>
        </p:sp>
      </p:grpSp>
      <p:grpSp>
        <p:nvGrpSpPr>
          <p:cNvPr id="18" name="Group 14">
            <a:extLst>
              <a:ext uri="{FF2B5EF4-FFF2-40B4-BE49-F238E27FC236}">
                <a16:creationId xmlns:a16="http://schemas.microsoft.com/office/drawing/2014/main" id="{8EBC8E8E-9568-CA1F-B039-C31B5E065D90}"/>
              </a:ext>
            </a:extLst>
          </p:cNvPr>
          <p:cNvGrpSpPr>
            <a:grpSpLocks/>
          </p:cNvGrpSpPr>
          <p:nvPr/>
        </p:nvGrpSpPr>
        <p:grpSpPr bwMode="auto">
          <a:xfrm>
            <a:off x="2667000" y="3048000"/>
            <a:ext cx="4572000" cy="2286000"/>
            <a:chOff x="1680" y="1920"/>
            <a:chExt cx="2880" cy="1440"/>
          </a:xfrm>
        </p:grpSpPr>
        <p:sp>
          <p:nvSpPr>
            <p:cNvPr id="19" name="Text Box 15">
              <a:extLst>
                <a:ext uri="{FF2B5EF4-FFF2-40B4-BE49-F238E27FC236}">
                  <a16:creationId xmlns:a16="http://schemas.microsoft.com/office/drawing/2014/main" id="{F498A832-A190-7405-E6BF-A0ACA84B1047}"/>
                </a:ext>
              </a:extLst>
            </p:cNvPr>
            <p:cNvSpPr txBox="1">
              <a:spLocks noChangeArrowheads="1"/>
            </p:cNvSpPr>
            <p:nvPr/>
          </p:nvSpPr>
          <p:spPr bwMode="auto">
            <a:xfrm>
              <a:off x="3312" y="1920"/>
              <a:ext cx="864" cy="404"/>
            </a:xfrm>
            <a:prstGeom prst="rect">
              <a:avLst/>
            </a:prstGeom>
            <a:noFill/>
            <a:ln w="12700">
              <a:noFill/>
              <a:miter lim="800000"/>
              <a:headEnd/>
              <a:tailEnd/>
            </a:ln>
          </p:spPr>
          <p:txBody>
            <a:bodyPr>
              <a:spAutoFit/>
            </a:bodyPr>
            <a:lstStyle/>
            <a:p>
              <a:pPr>
                <a:spcBef>
                  <a:spcPct val="50000"/>
                </a:spcBef>
              </a:pPr>
              <a:r>
                <a:rPr lang="en-US" sz="1800"/>
                <a:t>Compute Distance</a:t>
              </a:r>
            </a:p>
          </p:txBody>
        </p:sp>
        <p:grpSp>
          <p:nvGrpSpPr>
            <p:cNvPr id="20" name="Group 16">
              <a:extLst>
                <a:ext uri="{FF2B5EF4-FFF2-40B4-BE49-F238E27FC236}">
                  <a16:creationId xmlns:a16="http://schemas.microsoft.com/office/drawing/2014/main" id="{D1B562EE-C025-5E54-25F1-86F60B6337A0}"/>
                </a:ext>
              </a:extLst>
            </p:cNvPr>
            <p:cNvGrpSpPr>
              <a:grpSpLocks/>
            </p:cNvGrpSpPr>
            <p:nvPr/>
          </p:nvGrpSpPr>
          <p:grpSpPr bwMode="auto">
            <a:xfrm>
              <a:off x="1680" y="2256"/>
              <a:ext cx="2880" cy="1104"/>
              <a:chOff x="1680" y="2256"/>
              <a:chExt cx="2880" cy="1104"/>
            </a:xfrm>
          </p:grpSpPr>
          <p:sp>
            <p:nvSpPr>
              <p:cNvPr id="21" name="Line 17">
                <a:extLst>
                  <a:ext uri="{FF2B5EF4-FFF2-40B4-BE49-F238E27FC236}">
                    <a16:creationId xmlns:a16="http://schemas.microsoft.com/office/drawing/2014/main" id="{B4F82440-8BC1-6B3B-0237-3B581F14126F}"/>
                  </a:ext>
                </a:extLst>
              </p:cNvPr>
              <p:cNvSpPr>
                <a:spLocks noChangeShapeType="1"/>
              </p:cNvSpPr>
              <p:nvPr/>
            </p:nvSpPr>
            <p:spPr bwMode="auto">
              <a:xfrm>
                <a:off x="2832" y="2256"/>
                <a:ext cx="1680" cy="576"/>
              </a:xfrm>
              <a:prstGeom prst="line">
                <a:avLst/>
              </a:prstGeom>
              <a:noFill/>
              <a:ln w="38100">
                <a:solidFill>
                  <a:srgbClr val="FF0000"/>
                </a:solidFill>
                <a:round/>
                <a:headEnd/>
                <a:tailEnd type="triangle" w="med" len="med"/>
              </a:ln>
            </p:spPr>
            <p:txBody>
              <a:bodyPr/>
              <a:lstStyle/>
              <a:p>
                <a:endParaRPr lang="en-US"/>
              </a:p>
            </p:txBody>
          </p:sp>
          <p:sp>
            <p:nvSpPr>
              <p:cNvPr id="22" name="Line 18">
                <a:extLst>
                  <a:ext uri="{FF2B5EF4-FFF2-40B4-BE49-F238E27FC236}">
                    <a16:creationId xmlns:a16="http://schemas.microsoft.com/office/drawing/2014/main" id="{A3D270E0-B3AC-B694-AAD7-BB791FDD8A05}"/>
                  </a:ext>
                </a:extLst>
              </p:cNvPr>
              <p:cNvSpPr>
                <a:spLocks noChangeShapeType="1"/>
              </p:cNvSpPr>
              <p:nvPr/>
            </p:nvSpPr>
            <p:spPr bwMode="auto">
              <a:xfrm>
                <a:off x="2544" y="2880"/>
                <a:ext cx="2016" cy="48"/>
              </a:xfrm>
              <a:prstGeom prst="line">
                <a:avLst/>
              </a:prstGeom>
              <a:noFill/>
              <a:ln w="38100">
                <a:solidFill>
                  <a:srgbClr val="FF0000"/>
                </a:solidFill>
                <a:round/>
                <a:headEnd/>
                <a:tailEnd type="triangle" w="med" len="med"/>
              </a:ln>
            </p:spPr>
            <p:txBody>
              <a:bodyPr/>
              <a:lstStyle/>
              <a:p>
                <a:endParaRPr lang="en-US"/>
              </a:p>
            </p:txBody>
          </p:sp>
          <p:sp>
            <p:nvSpPr>
              <p:cNvPr id="23" name="Line 19">
                <a:extLst>
                  <a:ext uri="{FF2B5EF4-FFF2-40B4-BE49-F238E27FC236}">
                    <a16:creationId xmlns:a16="http://schemas.microsoft.com/office/drawing/2014/main" id="{E5466141-9F6B-88E4-59BE-49E5FAA5F72E}"/>
                  </a:ext>
                </a:extLst>
              </p:cNvPr>
              <p:cNvSpPr>
                <a:spLocks noChangeShapeType="1"/>
              </p:cNvSpPr>
              <p:nvPr/>
            </p:nvSpPr>
            <p:spPr bwMode="auto">
              <a:xfrm flipV="1">
                <a:off x="2928" y="3072"/>
                <a:ext cx="1584" cy="288"/>
              </a:xfrm>
              <a:prstGeom prst="line">
                <a:avLst/>
              </a:prstGeom>
              <a:noFill/>
              <a:ln w="38100">
                <a:solidFill>
                  <a:srgbClr val="FF0000"/>
                </a:solidFill>
                <a:round/>
                <a:headEnd/>
                <a:tailEnd type="triangle" w="med" len="med"/>
              </a:ln>
            </p:spPr>
            <p:txBody>
              <a:bodyPr/>
              <a:lstStyle/>
              <a:p>
                <a:endParaRPr lang="en-US"/>
              </a:p>
            </p:txBody>
          </p:sp>
          <p:sp>
            <p:nvSpPr>
              <p:cNvPr id="24" name="Line 20">
                <a:extLst>
                  <a:ext uri="{FF2B5EF4-FFF2-40B4-BE49-F238E27FC236}">
                    <a16:creationId xmlns:a16="http://schemas.microsoft.com/office/drawing/2014/main" id="{F4337E03-DCA9-F404-C8CF-E21AAACC4F02}"/>
                  </a:ext>
                </a:extLst>
              </p:cNvPr>
              <p:cNvSpPr>
                <a:spLocks noChangeShapeType="1"/>
              </p:cNvSpPr>
              <p:nvPr/>
            </p:nvSpPr>
            <p:spPr bwMode="auto">
              <a:xfrm flipV="1">
                <a:off x="1680" y="3024"/>
                <a:ext cx="2832" cy="192"/>
              </a:xfrm>
              <a:prstGeom prst="line">
                <a:avLst/>
              </a:prstGeom>
              <a:noFill/>
              <a:ln w="38100">
                <a:solidFill>
                  <a:srgbClr val="FF0000"/>
                </a:solidFill>
                <a:round/>
                <a:headEnd/>
                <a:tailEnd type="triangle" w="med" len="med"/>
              </a:ln>
            </p:spPr>
            <p:txBody>
              <a:bodyPr/>
              <a:lstStyle/>
              <a:p>
                <a:endParaRPr lang="en-US"/>
              </a:p>
            </p:txBody>
          </p:sp>
          <p:sp>
            <p:nvSpPr>
              <p:cNvPr id="25" name="Line 21">
                <a:extLst>
                  <a:ext uri="{FF2B5EF4-FFF2-40B4-BE49-F238E27FC236}">
                    <a16:creationId xmlns:a16="http://schemas.microsoft.com/office/drawing/2014/main" id="{460787CE-B020-9898-0A8B-35C562E3BFBC}"/>
                  </a:ext>
                </a:extLst>
              </p:cNvPr>
              <p:cNvSpPr>
                <a:spLocks noChangeShapeType="1"/>
              </p:cNvSpPr>
              <p:nvPr/>
            </p:nvSpPr>
            <p:spPr bwMode="auto">
              <a:xfrm>
                <a:off x="1920" y="2352"/>
                <a:ext cx="2544" cy="528"/>
              </a:xfrm>
              <a:prstGeom prst="line">
                <a:avLst/>
              </a:prstGeom>
              <a:noFill/>
              <a:ln w="38100">
                <a:solidFill>
                  <a:srgbClr val="FF0000"/>
                </a:solidFill>
                <a:round/>
                <a:headEnd/>
                <a:tailEnd type="triangle" w="med" len="med"/>
              </a:ln>
            </p:spPr>
            <p:txBody>
              <a:bodyPr/>
              <a:lstStyle/>
              <a:p>
                <a:endParaRPr lang="en-US"/>
              </a:p>
            </p:txBody>
          </p:sp>
        </p:grpSp>
      </p:grpSp>
      <p:grpSp>
        <p:nvGrpSpPr>
          <p:cNvPr id="26" name="Group 22">
            <a:extLst>
              <a:ext uri="{FF2B5EF4-FFF2-40B4-BE49-F238E27FC236}">
                <a16:creationId xmlns:a16="http://schemas.microsoft.com/office/drawing/2014/main" id="{5B806466-49F1-F873-94D6-3BF2A4F54210}"/>
              </a:ext>
            </a:extLst>
          </p:cNvPr>
          <p:cNvGrpSpPr>
            <a:grpSpLocks/>
          </p:cNvGrpSpPr>
          <p:nvPr/>
        </p:nvGrpSpPr>
        <p:grpSpPr bwMode="auto">
          <a:xfrm>
            <a:off x="4038600" y="4572000"/>
            <a:ext cx="3352800" cy="1327150"/>
            <a:chOff x="2544" y="2880"/>
            <a:chExt cx="2112" cy="836"/>
          </a:xfrm>
        </p:grpSpPr>
        <p:sp>
          <p:nvSpPr>
            <p:cNvPr id="27" name="Text Box 23">
              <a:extLst>
                <a:ext uri="{FF2B5EF4-FFF2-40B4-BE49-F238E27FC236}">
                  <a16:creationId xmlns:a16="http://schemas.microsoft.com/office/drawing/2014/main" id="{1D6A120D-735A-8B20-0028-9CA8C32DB972}"/>
                </a:ext>
              </a:extLst>
            </p:cNvPr>
            <p:cNvSpPr txBox="1">
              <a:spLocks noChangeArrowheads="1"/>
            </p:cNvSpPr>
            <p:nvPr/>
          </p:nvSpPr>
          <p:spPr bwMode="auto">
            <a:xfrm>
              <a:off x="3264" y="3312"/>
              <a:ext cx="1392" cy="404"/>
            </a:xfrm>
            <a:prstGeom prst="rect">
              <a:avLst/>
            </a:prstGeom>
            <a:noFill/>
            <a:ln w="12700">
              <a:noFill/>
              <a:miter lim="800000"/>
              <a:headEnd/>
              <a:tailEnd/>
            </a:ln>
          </p:spPr>
          <p:txBody>
            <a:bodyPr>
              <a:spAutoFit/>
            </a:bodyPr>
            <a:lstStyle/>
            <a:p>
              <a:pPr>
                <a:spcBef>
                  <a:spcPct val="50000"/>
                </a:spcBef>
              </a:pPr>
              <a:r>
                <a:rPr lang="en-US" sz="1800"/>
                <a:t>Choose k of the “nearest” records</a:t>
              </a:r>
            </a:p>
          </p:txBody>
        </p:sp>
        <p:grpSp>
          <p:nvGrpSpPr>
            <p:cNvPr id="28" name="Group 24">
              <a:extLst>
                <a:ext uri="{FF2B5EF4-FFF2-40B4-BE49-F238E27FC236}">
                  <a16:creationId xmlns:a16="http://schemas.microsoft.com/office/drawing/2014/main" id="{B22AD93D-B9BF-D6F4-D4A2-ABE6218BE71E}"/>
                </a:ext>
              </a:extLst>
            </p:cNvPr>
            <p:cNvGrpSpPr>
              <a:grpSpLocks/>
            </p:cNvGrpSpPr>
            <p:nvPr/>
          </p:nvGrpSpPr>
          <p:grpSpPr bwMode="auto">
            <a:xfrm>
              <a:off x="2544" y="2880"/>
              <a:ext cx="2016" cy="480"/>
              <a:chOff x="2544" y="2880"/>
              <a:chExt cx="2016" cy="480"/>
            </a:xfrm>
          </p:grpSpPr>
          <p:sp>
            <p:nvSpPr>
              <p:cNvPr id="29" name="Line 25">
                <a:extLst>
                  <a:ext uri="{FF2B5EF4-FFF2-40B4-BE49-F238E27FC236}">
                    <a16:creationId xmlns:a16="http://schemas.microsoft.com/office/drawing/2014/main" id="{36BB1759-0855-3DF9-14DB-1FF947C66822}"/>
                  </a:ext>
                </a:extLst>
              </p:cNvPr>
              <p:cNvSpPr>
                <a:spLocks noChangeShapeType="1"/>
              </p:cNvSpPr>
              <p:nvPr/>
            </p:nvSpPr>
            <p:spPr bwMode="auto">
              <a:xfrm>
                <a:off x="2544" y="2880"/>
                <a:ext cx="2016" cy="48"/>
              </a:xfrm>
              <a:prstGeom prst="line">
                <a:avLst/>
              </a:prstGeom>
              <a:noFill/>
              <a:ln w="44450">
                <a:solidFill>
                  <a:srgbClr val="0000FF"/>
                </a:solidFill>
                <a:round/>
                <a:headEnd/>
                <a:tailEnd type="triangle" w="med" len="med"/>
              </a:ln>
            </p:spPr>
            <p:txBody>
              <a:bodyPr/>
              <a:lstStyle/>
              <a:p>
                <a:endParaRPr lang="en-US"/>
              </a:p>
            </p:txBody>
          </p:sp>
          <p:sp>
            <p:nvSpPr>
              <p:cNvPr id="30" name="Line 26">
                <a:extLst>
                  <a:ext uri="{FF2B5EF4-FFF2-40B4-BE49-F238E27FC236}">
                    <a16:creationId xmlns:a16="http://schemas.microsoft.com/office/drawing/2014/main" id="{1603C15D-6E17-632F-DA82-EBCC0DFC16C9}"/>
                  </a:ext>
                </a:extLst>
              </p:cNvPr>
              <p:cNvSpPr>
                <a:spLocks noChangeShapeType="1"/>
              </p:cNvSpPr>
              <p:nvPr/>
            </p:nvSpPr>
            <p:spPr bwMode="auto">
              <a:xfrm flipV="1">
                <a:off x="2928" y="3072"/>
                <a:ext cx="1584" cy="288"/>
              </a:xfrm>
              <a:prstGeom prst="line">
                <a:avLst/>
              </a:prstGeom>
              <a:noFill/>
              <a:ln w="44450">
                <a:solidFill>
                  <a:srgbClr val="0000FF"/>
                </a:solidFill>
                <a:round/>
                <a:headEnd/>
                <a:tailEnd type="triangle" w="med" len="med"/>
              </a:ln>
            </p:spPr>
            <p:txBody>
              <a:bodyPr/>
              <a:lstStyle/>
              <a:p>
                <a:endParaRPr lang="en-US"/>
              </a:p>
            </p:txBody>
          </p:sp>
        </p:grpSp>
      </p:grpSp>
      <p:sp>
        <p:nvSpPr>
          <p:cNvPr id="3" name="TextBox 2">
            <a:extLst>
              <a:ext uri="{FF2B5EF4-FFF2-40B4-BE49-F238E27FC236}">
                <a16:creationId xmlns:a16="http://schemas.microsoft.com/office/drawing/2014/main" id="{A3F20F77-5E51-2DFB-496D-9C611A2F2384}"/>
              </a:ext>
            </a:extLst>
          </p:cNvPr>
          <p:cNvSpPr txBox="1"/>
          <p:nvPr/>
        </p:nvSpPr>
        <p:spPr>
          <a:xfrm>
            <a:off x="7630003" y="5216525"/>
            <a:ext cx="2951791" cy="1477328"/>
          </a:xfrm>
          <a:prstGeom prst="rect">
            <a:avLst/>
          </a:prstGeom>
          <a:noFill/>
        </p:spPr>
        <p:txBody>
          <a:bodyPr wrap="square" rtlCol="0">
            <a:spAutoFit/>
          </a:bodyPr>
          <a:lstStyle/>
          <a:p>
            <a:r>
              <a:rPr lang="en-US" dirty="0"/>
              <a:t>K= 5</a:t>
            </a:r>
          </a:p>
          <a:p>
            <a:endParaRPr lang="en-US" dirty="0"/>
          </a:p>
          <a:p>
            <a:r>
              <a:rPr lang="en-US" dirty="0"/>
              <a:t>These are 5 nearest / closest neighbors to the new test sample.</a:t>
            </a:r>
          </a:p>
        </p:txBody>
      </p:sp>
    </p:spTree>
    <p:extLst>
      <p:ext uri="{BB962C8B-B14F-4D97-AF65-F5344CB8AC3E}">
        <p14:creationId xmlns:p14="http://schemas.microsoft.com/office/powerpoint/2010/main" val="284634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K-NN  is based on</a:t>
            </a:r>
            <a:endParaRPr lang="en-US" dirty="0">
              <a:solidFill>
                <a:srgbClr val="04B452"/>
              </a:solidFill>
            </a:endParaRPr>
          </a:p>
        </p:txBody>
      </p:sp>
      <p:sp>
        <p:nvSpPr>
          <p:cNvPr id="3" name="Content Placeholder 2"/>
          <p:cNvSpPr>
            <a:spLocks noGrp="1"/>
          </p:cNvSpPr>
          <p:nvPr>
            <p:ph idx="1"/>
          </p:nvPr>
        </p:nvSpPr>
        <p:spPr>
          <a:xfrm>
            <a:off x="166540" y="905138"/>
            <a:ext cx="10306639" cy="4525963"/>
          </a:xfrm>
        </p:spPr>
        <p:txBody>
          <a:bodyPr>
            <a:noAutofit/>
          </a:bodyPr>
          <a:lstStyle/>
          <a:p>
            <a:r>
              <a:rPr lang="en-US" altLang="en-US"/>
              <a:t>Instance-based Learning</a:t>
            </a:r>
          </a:p>
          <a:p>
            <a:pPr lvl="1"/>
            <a:r>
              <a:rPr lang="en-US" altLang="en-US"/>
              <a:t>Learning=storing all training instances</a:t>
            </a:r>
          </a:p>
          <a:p>
            <a:pPr lvl="1"/>
            <a:r>
              <a:rPr lang="en-US" altLang="en-US"/>
              <a:t>Classification=assigning target function to a new instance</a:t>
            </a:r>
          </a:p>
          <a:p>
            <a:pPr>
              <a:lnSpc>
                <a:spcPct val="90000"/>
              </a:lnSpc>
            </a:pPr>
            <a:endParaRPr lang="en-US" altLang="en-US"/>
          </a:p>
          <a:p>
            <a:pPr>
              <a:lnSpc>
                <a:spcPct val="90000"/>
              </a:lnSpc>
            </a:pPr>
            <a:r>
              <a:rPr lang="en-US" altLang="en-US"/>
              <a:t>Also, referred to as</a:t>
            </a:r>
          </a:p>
          <a:p>
            <a:pPr lvl="1">
              <a:lnSpc>
                <a:spcPct val="90000"/>
              </a:lnSpc>
            </a:pPr>
            <a:r>
              <a:rPr lang="en-US" altLang="en-US"/>
              <a:t>Instance Based Learning</a:t>
            </a:r>
          </a:p>
          <a:p>
            <a:pPr lvl="1">
              <a:lnSpc>
                <a:spcPct val="90000"/>
              </a:lnSpc>
            </a:pPr>
            <a:r>
              <a:rPr lang="en-US" altLang="en-US"/>
              <a:t>Lazy Learning</a:t>
            </a:r>
          </a:p>
          <a:p>
            <a:pPr lvl="1">
              <a:lnSpc>
                <a:spcPct val="90000"/>
              </a:lnSpc>
            </a:pPr>
            <a:r>
              <a:rPr lang="en-US" altLang="en-US"/>
              <a:t>Case Based Reasoning</a:t>
            </a:r>
          </a:p>
          <a:p>
            <a:pPr lvl="1">
              <a:lnSpc>
                <a:spcPct val="90000"/>
              </a:lnSpc>
            </a:pPr>
            <a:r>
              <a:rPr lang="en-US" altLang="en-US"/>
              <a:t>Exemplar Based Learning</a:t>
            </a:r>
          </a:p>
          <a:p>
            <a:pPr lvl="1"/>
            <a:endParaRPr lang="en-US" altLang="en-US"/>
          </a:p>
        </p:txBody>
      </p:sp>
      <p:sp>
        <p:nvSpPr>
          <p:cNvPr id="4" name="Slide Number Placeholder 3"/>
          <p:cNvSpPr>
            <a:spLocks noGrp="1"/>
          </p:cNvSpPr>
          <p:nvPr>
            <p:ph type="sldNum" sz="quarter" idx="12"/>
          </p:nvPr>
        </p:nvSpPr>
        <p:spPr/>
        <p:txBody>
          <a:bodyPr/>
          <a:lstStyle/>
          <a:p>
            <a:fld id="{7957FF81-3E34-4073-BF50-FE78B3EBEE2E}" type="slidenum">
              <a:rPr lang="en-US" smtClean="0"/>
              <a:t>4</a:t>
            </a:fld>
            <a:endParaRPr lang="en-US"/>
          </a:p>
        </p:txBody>
      </p:sp>
    </p:spTree>
    <p:extLst>
      <p:ext uri="{BB962C8B-B14F-4D97-AF65-F5344CB8AC3E}">
        <p14:creationId xmlns:p14="http://schemas.microsoft.com/office/powerpoint/2010/main" val="280584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2000322" cy="721149"/>
          </a:xfrm>
        </p:spPr>
        <p:txBody>
          <a:bodyPr>
            <a:normAutofit fontScale="90000"/>
          </a:bodyPr>
          <a:lstStyle/>
          <a:p>
            <a:pPr algn="l"/>
            <a:r>
              <a:rPr lang="en-US">
                <a:solidFill>
                  <a:srgbClr val="04B452"/>
                </a:solidFill>
              </a:rPr>
              <a:t>K-NN : Basic classification principle</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a:bodyPr>
          <a:lstStyle/>
          <a:p>
            <a:r>
              <a:rPr lang="en-US" altLang="en-US" i="1"/>
              <a:t>k</a:t>
            </a:r>
            <a:r>
              <a:rPr lang="en-US" altLang="en-US"/>
              <a:t>-NN classification rule is to assign to a test sample the majority category label of its </a:t>
            </a:r>
            <a:r>
              <a:rPr lang="en-US" altLang="en-US" i="1"/>
              <a:t>k-nearest</a:t>
            </a:r>
            <a:r>
              <a:rPr lang="en-US" altLang="en-US"/>
              <a:t> training samples</a:t>
            </a:r>
          </a:p>
          <a:p>
            <a:endParaRPr lang="en-US" altLang="en-US"/>
          </a:p>
          <a:p>
            <a:r>
              <a:rPr lang="en-US" altLang="en-US"/>
              <a:t>In practice, </a:t>
            </a:r>
            <a:r>
              <a:rPr lang="en-US" altLang="en-US" i="1"/>
              <a:t>k</a:t>
            </a:r>
            <a:r>
              <a:rPr lang="en-US" altLang="en-US"/>
              <a:t> is usually chosen to be odd, so as to avoid ties</a:t>
            </a:r>
          </a:p>
          <a:p>
            <a:endParaRPr lang="en-US" altLang="en-US"/>
          </a:p>
          <a:p>
            <a:r>
              <a:rPr lang="en-US" altLang="en-US"/>
              <a:t>The </a:t>
            </a:r>
            <a:r>
              <a:rPr lang="en-US" altLang="en-US" i="1"/>
              <a:t>k</a:t>
            </a:r>
            <a:r>
              <a:rPr lang="en-US" altLang="en-US"/>
              <a:t> = 1 rule is generally called the nearest-neighbor classification rule</a:t>
            </a:r>
            <a:endParaRPr lang="en-US" altLang="en-US" dirty="0"/>
          </a:p>
        </p:txBody>
      </p:sp>
      <p:sp>
        <p:nvSpPr>
          <p:cNvPr id="4" name="Slide Number Placeholder 3"/>
          <p:cNvSpPr>
            <a:spLocks noGrp="1"/>
          </p:cNvSpPr>
          <p:nvPr>
            <p:ph type="sldNum" sz="quarter" idx="12"/>
          </p:nvPr>
        </p:nvSpPr>
        <p:spPr/>
        <p:txBody>
          <a:bodyPr/>
          <a:lstStyle/>
          <a:p>
            <a:fld id="{7957FF81-3E34-4073-BF50-FE78B3EBEE2E}" type="slidenum">
              <a:rPr lang="en-US" smtClean="0"/>
              <a:t>5</a:t>
            </a:fld>
            <a:endParaRPr lang="en-US"/>
          </a:p>
        </p:txBody>
      </p:sp>
    </p:spTree>
    <p:extLst>
      <p:ext uri="{BB962C8B-B14F-4D97-AF65-F5344CB8AC3E}">
        <p14:creationId xmlns:p14="http://schemas.microsoft.com/office/powerpoint/2010/main" val="2786359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2000322" cy="721149"/>
          </a:xfrm>
        </p:spPr>
        <p:txBody>
          <a:bodyPr>
            <a:normAutofit fontScale="90000"/>
          </a:bodyPr>
          <a:lstStyle/>
          <a:p>
            <a:pPr algn="l"/>
            <a:r>
              <a:rPr lang="en-US">
                <a:solidFill>
                  <a:srgbClr val="04B452"/>
                </a:solidFill>
              </a:rPr>
              <a:t>K-NN : Nearest Neighbors? How many?</a:t>
            </a:r>
            <a:endParaRPr lang="en-US" dirty="0">
              <a:solidFill>
                <a:srgbClr val="04B452"/>
              </a:solidFill>
            </a:endParaRPr>
          </a:p>
        </p:txBody>
      </p:sp>
      <p:sp>
        <p:nvSpPr>
          <p:cNvPr id="4" name="Slide Number Placeholder 3"/>
          <p:cNvSpPr>
            <a:spLocks noGrp="1"/>
          </p:cNvSpPr>
          <p:nvPr>
            <p:ph type="sldNum" sz="quarter" idx="12"/>
          </p:nvPr>
        </p:nvSpPr>
        <p:spPr/>
        <p:txBody>
          <a:bodyPr/>
          <a:lstStyle/>
          <a:p>
            <a:fld id="{7957FF81-3E34-4073-BF50-FE78B3EBEE2E}" type="slidenum">
              <a:rPr lang="en-US" smtClean="0"/>
              <a:t>6</a:t>
            </a:fld>
            <a:endParaRPr lang="en-US"/>
          </a:p>
        </p:txBody>
      </p:sp>
      <p:graphicFrame>
        <p:nvGraphicFramePr>
          <p:cNvPr id="7" name="Object 3">
            <a:extLst>
              <a:ext uri="{FF2B5EF4-FFF2-40B4-BE49-F238E27FC236}">
                <a16:creationId xmlns:a16="http://schemas.microsoft.com/office/drawing/2014/main" id="{B448CDA5-6C34-8FAD-CF0E-68FA21D8E498}"/>
              </a:ext>
            </a:extLst>
          </p:cNvPr>
          <p:cNvGraphicFramePr>
            <a:graphicFrameLocks noChangeAspect="1"/>
          </p:cNvGraphicFramePr>
          <p:nvPr/>
        </p:nvGraphicFramePr>
        <p:xfrm>
          <a:off x="533400" y="1600200"/>
          <a:ext cx="7848600" cy="3640138"/>
        </p:xfrm>
        <a:graphic>
          <a:graphicData uri="http://schemas.openxmlformats.org/presentationml/2006/ole">
            <mc:AlternateContent xmlns:mc="http://schemas.openxmlformats.org/markup-compatibility/2006">
              <mc:Choice xmlns:v="urn:schemas-microsoft-com:vml" Requires="v">
                <p:oleObj name="VISIO" r:id="rId2" imgW="9756360" imgH="4523760" progId="">
                  <p:embed/>
                </p:oleObj>
              </mc:Choice>
              <mc:Fallback>
                <p:oleObj name="VISIO" r:id="rId2" imgW="9756360" imgH="4523760" progId="">
                  <p:embed/>
                  <p:pic>
                    <p:nvPicPr>
                      <p:cNvPr id="1638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00200"/>
                        <a:ext cx="7848600" cy="364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4">
            <a:extLst>
              <a:ext uri="{FF2B5EF4-FFF2-40B4-BE49-F238E27FC236}">
                <a16:creationId xmlns:a16="http://schemas.microsoft.com/office/drawing/2014/main" id="{9F3454F0-F333-36EA-E3B6-00ACCE105BB3}"/>
              </a:ext>
            </a:extLst>
          </p:cNvPr>
          <p:cNvSpPr>
            <a:spLocks noChangeArrowheads="1"/>
          </p:cNvSpPr>
          <p:nvPr/>
        </p:nvSpPr>
        <p:spPr bwMode="auto">
          <a:xfrm>
            <a:off x="762000" y="5257800"/>
            <a:ext cx="7696200" cy="914400"/>
          </a:xfrm>
          <a:prstGeom prst="rect">
            <a:avLst/>
          </a:prstGeom>
          <a:noFill/>
          <a:ln w="9525">
            <a:noFill/>
            <a:miter lim="800000"/>
            <a:headEnd/>
            <a:tailEnd/>
          </a:ln>
        </p:spPr>
        <p:txBody>
          <a:bodyPr/>
          <a:lstStyle/>
          <a:p>
            <a:pPr marL="342900" indent="-342900">
              <a:spcBef>
                <a:spcPct val="10000"/>
              </a:spcBef>
              <a:spcAft>
                <a:spcPts val="400"/>
              </a:spcAft>
              <a:buClr>
                <a:srgbClr val="0C7B9C"/>
              </a:buClr>
              <a:buSzPct val="75000"/>
              <a:buFont typeface="Monotype Sorts" pitchFamily="2" charset="2"/>
              <a:buNone/>
            </a:pPr>
            <a:r>
              <a:rPr lang="en-US" sz="2400" b="0"/>
              <a:t>    K-nearest neighbors of a record x are data points that have the k smallest distance to x</a:t>
            </a:r>
          </a:p>
        </p:txBody>
      </p:sp>
    </p:spTree>
    <p:extLst>
      <p:ext uri="{BB962C8B-B14F-4D97-AF65-F5344CB8AC3E}">
        <p14:creationId xmlns:p14="http://schemas.microsoft.com/office/powerpoint/2010/main" val="202090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2000322" cy="721149"/>
          </a:xfrm>
        </p:spPr>
        <p:txBody>
          <a:bodyPr>
            <a:normAutofit fontScale="90000"/>
          </a:bodyPr>
          <a:lstStyle/>
          <a:p>
            <a:pPr algn="l"/>
            <a:r>
              <a:rPr lang="en-US">
                <a:solidFill>
                  <a:srgbClr val="04B452"/>
                </a:solidFill>
              </a:rPr>
              <a:t>K-NN for Classification and Regression</a:t>
            </a:r>
            <a:endParaRPr lang="en-US" dirty="0">
              <a:solidFill>
                <a:srgbClr val="04B452"/>
              </a:solidFill>
            </a:endParaRPr>
          </a:p>
        </p:txBody>
      </p:sp>
      <p:sp>
        <p:nvSpPr>
          <p:cNvPr id="3" name="Content Placeholder 2"/>
          <p:cNvSpPr>
            <a:spLocks noGrp="1"/>
          </p:cNvSpPr>
          <p:nvPr>
            <p:ph idx="1"/>
          </p:nvPr>
        </p:nvSpPr>
        <p:spPr>
          <a:xfrm>
            <a:off x="166540" y="1235076"/>
            <a:ext cx="11739514" cy="4525963"/>
          </a:xfrm>
        </p:spPr>
        <p:txBody>
          <a:bodyPr>
            <a:normAutofit fontScale="85000" lnSpcReduction="10000"/>
          </a:bodyPr>
          <a:lstStyle/>
          <a:p>
            <a:r>
              <a:rPr lang="en-US" dirty="0"/>
              <a:t>In k-NN classification, the output is a class membership. An object is classified by a plurality vote of its neighbors, with the object being assigned to the class most common among its k nearest neighbors (k is a positive integer, typically small).  </a:t>
            </a:r>
          </a:p>
          <a:p>
            <a:endParaRPr lang="en-US" dirty="0"/>
          </a:p>
          <a:p>
            <a:r>
              <a:rPr lang="en-US" dirty="0"/>
              <a:t>In k-NN regression, the output is the property value for the object. This value is the average of the values of k nearest neighbors. </a:t>
            </a:r>
          </a:p>
          <a:p>
            <a:endParaRPr lang="en-US" dirty="0"/>
          </a:p>
          <a:p>
            <a:endParaRPr lang="en-US" dirty="0"/>
          </a:p>
          <a:p>
            <a:pPr marL="0" indent="0">
              <a:buNone/>
            </a:pPr>
            <a:r>
              <a:rPr lang="en-US" dirty="0"/>
              <a:t>Question: What happens if k = 1?</a:t>
            </a:r>
          </a:p>
          <a:p>
            <a:pPr marL="0" indent="0">
              <a:buNone/>
            </a:pPr>
            <a:r>
              <a:rPr lang="en-US" dirty="0"/>
              <a:t>Question: What happens if k = 2 or 4 or 6?</a:t>
            </a:r>
          </a:p>
        </p:txBody>
      </p:sp>
      <p:sp>
        <p:nvSpPr>
          <p:cNvPr id="4" name="Slide Number Placeholder 3"/>
          <p:cNvSpPr>
            <a:spLocks noGrp="1"/>
          </p:cNvSpPr>
          <p:nvPr>
            <p:ph type="sldNum" sz="quarter" idx="12"/>
          </p:nvPr>
        </p:nvSpPr>
        <p:spPr/>
        <p:txBody>
          <a:bodyPr/>
          <a:lstStyle/>
          <a:p>
            <a:fld id="{7957FF81-3E34-4073-BF50-FE78B3EBEE2E}" type="slidenum">
              <a:rPr lang="en-US" smtClean="0"/>
              <a:t>7</a:t>
            </a:fld>
            <a:endParaRPr lang="en-US"/>
          </a:p>
        </p:txBody>
      </p:sp>
    </p:spTree>
    <p:extLst>
      <p:ext uri="{BB962C8B-B14F-4D97-AF65-F5344CB8AC3E}">
        <p14:creationId xmlns:p14="http://schemas.microsoft.com/office/powerpoint/2010/main" val="780818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Applications of KNN</a:t>
            </a:r>
            <a:endParaRPr lang="en-US" dirty="0">
              <a:solidFill>
                <a:srgbClr val="04B452"/>
              </a:solidFill>
            </a:endParaRPr>
          </a:p>
        </p:txBody>
      </p:sp>
      <p:sp>
        <p:nvSpPr>
          <p:cNvPr id="3" name="Content Placeholder 2"/>
          <p:cNvSpPr>
            <a:spLocks noGrp="1"/>
          </p:cNvSpPr>
          <p:nvPr>
            <p:ph idx="1"/>
          </p:nvPr>
        </p:nvSpPr>
        <p:spPr>
          <a:xfrm>
            <a:off x="166540" y="905138"/>
            <a:ext cx="11739514" cy="4525963"/>
          </a:xfrm>
        </p:spPr>
        <p:txBody>
          <a:bodyPr>
            <a:noAutofit/>
          </a:bodyPr>
          <a:lstStyle/>
          <a:p>
            <a:r>
              <a:rPr lang="en-US" sz="2000" b="1" dirty="0"/>
              <a:t>Classification</a:t>
            </a:r>
            <a:r>
              <a:rPr lang="en-US" sz="2000" dirty="0"/>
              <a:t>: KNN is often used for classification tasks, such as image recognition, document classification, and sentiment analysis. In these applications, KNN is trained on labeled data to predict the class of new, unseen data points.</a:t>
            </a:r>
          </a:p>
          <a:p>
            <a:r>
              <a:rPr lang="en-US" sz="2000" b="1" dirty="0"/>
              <a:t>Regression</a:t>
            </a:r>
            <a:r>
              <a:rPr lang="en-US" sz="2000" dirty="0"/>
              <a:t>: KNN can also be used for regression tasks, such as predicting the price of a house based on its features or estimating the demand for a product based on historical sales data.</a:t>
            </a:r>
          </a:p>
          <a:p>
            <a:r>
              <a:rPr lang="en-US" sz="2000" b="1" dirty="0"/>
              <a:t>Anomaly (Outlier) detection</a:t>
            </a:r>
            <a:r>
              <a:rPr lang="en-US" sz="2000" dirty="0"/>
              <a:t>: KNN can be used for anomaly detection, where the goal is to identify unusual or anomalous data points that deviate significantly from the normal behavior of the system.</a:t>
            </a:r>
          </a:p>
          <a:p>
            <a:r>
              <a:rPr lang="en-US" sz="2000" b="1" dirty="0"/>
              <a:t>Recommender systems</a:t>
            </a:r>
            <a:r>
              <a:rPr lang="en-US" sz="2000" dirty="0"/>
              <a:t>: KNN can be used to build personalized recommender systems that suggest items or products based on the user's past behavior or preferences.</a:t>
            </a:r>
          </a:p>
          <a:p>
            <a:r>
              <a:rPr lang="en-US" sz="2000" b="1" dirty="0"/>
              <a:t>Image retrieval</a:t>
            </a:r>
            <a:r>
              <a:rPr lang="en-US" sz="2000" dirty="0"/>
              <a:t>: KNN can be used for content-based image retrieval, where the goal is to find images in a database that are similar to a query image based on their visual features.</a:t>
            </a:r>
          </a:p>
          <a:p>
            <a:r>
              <a:rPr lang="en-US" sz="2000" b="1" dirty="0"/>
              <a:t>Natural language processing</a:t>
            </a:r>
            <a:r>
              <a:rPr lang="en-US" sz="2000" dirty="0"/>
              <a:t>: KNN can be used for tasks such as text classification, document clustering, and word sense disambiguation in natural language processing.</a:t>
            </a:r>
          </a:p>
          <a:p>
            <a:r>
              <a:rPr lang="en-US" sz="2000" b="1" dirty="0"/>
              <a:t>imputation</a:t>
            </a:r>
            <a:r>
              <a:rPr lang="en-US" sz="2000" dirty="0"/>
              <a:t>: KNN can be used for missing value imputation, where missing values in a dataset are replaced with the average of their k-nearest neighbors. </a:t>
            </a:r>
          </a:p>
        </p:txBody>
      </p:sp>
      <p:sp>
        <p:nvSpPr>
          <p:cNvPr id="4" name="Slide Number Placeholder 3"/>
          <p:cNvSpPr>
            <a:spLocks noGrp="1"/>
          </p:cNvSpPr>
          <p:nvPr>
            <p:ph type="sldNum" sz="quarter" idx="12"/>
          </p:nvPr>
        </p:nvSpPr>
        <p:spPr/>
        <p:txBody>
          <a:bodyPr/>
          <a:lstStyle/>
          <a:p>
            <a:fld id="{7957FF81-3E34-4073-BF50-FE78B3EBEE2E}" type="slidenum">
              <a:rPr lang="en-US" smtClean="0"/>
              <a:t>8</a:t>
            </a:fld>
            <a:endParaRPr lang="en-US"/>
          </a:p>
        </p:txBody>
      </p:sp>
    </p:spTree>
    <p:extLst>
      <p:ext uri="{BB962C8B-B14F-4D97-AF65-F5344CB8AC3E}">
        <p14:creationId xmlns:p14="http://schemas.microsoft.com/office/powerpoint/2010/main" val="406465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Features of KNN</a:t>
            </a:r>
            <a:endParaRPr lang="en-US" dirty="0">
              <a:solidFill>
                <a:srgbClr val="04B452"/>
              </a:solidFill>
            </a:endParaRPr>
          </a:p>
        </p:txBody>
      </p:sp>
      <p:sp>
        <p:nvSpPr>
          <p:cNvPr id="3" name="Content Placeholder 2"/>
          <p:cNvSpPr>
            <a:spLocks noGrp="1"/>
          </p:cNvSpPr>
          <p:nvPr>
            <p:ph idx="1"/>
          </p:nvPr>
        </p:nvSpPr>
        <p:spPr>
          <a:xfrm>
            <a:off x="166540" y="905138"/>
            <a:ext cx="11739514" cy="4525963"/>
          </a:xfrm>
        </p:spPr>
        <p:txBody>
          <a:bodyPr>
            <a:noAutofit/>
          </a:bodyPr>
          <a:lstStyle/>
          <a:p>
            <a:r>
              <a:rPr lang="en-US" sz="2000" b="1" dirty="0"/>
              <a:t>Intuitive</a:t>
            </a:r>
            <a:r>
              <a:rPr lang="en-US" sz="2000" dirty="0"/>
              <a:t>: KNN is easy to understand and implement. The algorithm is based on the idea that objects that are close to each other are more likely to belong to the same class.</a:t>
            </a:r>
          </a:p>
          <a:p>
            <a:r>
              <a:rPr lang="en-US" sz="2000" b="1" dirty="0"/>
              <a:t>Non-parametric</a:t>
            </a:r>
            <a:r>
              <a:rPr lang="en-US" sz="2000" dirty="0"/>
              <a:t>: KNN is a non-parametric algorithm, which means it does not make any assumptions about the underlying data distribution. This makes it more flexible and able to handle a wide range of data types and structures.</a:t>
            </a:r>
          </a:p>
          <a:p>
            <a:r>
              <a:rPr lang="en-US" sz="2000" b="1" dirty="0"/>
              <a:t>Versatile</a:t>
            </a:r>
            <a:r>
              <a:rPr lang="en-US" sz="2000" dirty="0"/>
              <a:t>: KNN can be used for both classification and regression tasks. For classification, the algorithm assigns a label to a new data point based on the labels of its k-nearest neighbors. For regression, the algorithm predicts a numerical value based on the values of its k-nearest neighbors.</a:t>
            </a:r>
          </a:p>
          <a:p>
            <a:r>
              <a:rPr lang="en-US" sz="2000" b="1" dirty="0"/>
              <a:t>Handles multi-class problems</a:t>
            </a:r>
            <a:r>
              <a:rPr lang="en-US" sz="2000" dirty="0"/>
              <a:t>: KNN can handle multi-class classification problems, where there are more than two classes to predict.</a:t>
            </a:r>
          </a:p>
          <a:p>
            <a:r>
              <a:rPr lang="en-US" sz="2000" b="1" dirty="0"/>
              <a:t>Robust to noisy data</a:t>
            </a:r>
            <a:r>
              <a:rPr lang="en-US" sz="2000" dirty="0"/>
              <a:t>: KNN is robust to noisy data, as outliers and noise tend to have less influence on the final decision due to the averaging effect of the algorithm.</a:t>
            </a:r>
          </a:p>
        </p:txBody>
      </p:sp>
      <p:sp>
        <p:nvSpPr>
          <p:cNvPr id="4" name="Slide Number Placeholder 3"/>
          <p:cNvSpPr>
            <a:spLocks noGrp="1"/>
          </p:cNvSpPr>
          <p:nvPr>
            <p:ph type="sldNum" sz="quarter" idx="12"/>
          </p:nvPr>
        </p:nvSpPr>
        <p:spPr/>
        <p:txBody>
          <a:bodyPr/>
          <a:lstStyle/>
          <a:p>
            <a:fld id="{7957FF81-3E34-4073-BF50-FE78B3EBEE2E}" type="slidenum">
              <a:rPr lang="en-US" smtClean="0"/>
              <a:t>9</a:t>
            </a:fld>
            <a:endParaRPr lang="en-US"/>
          </a:p>
        </p:txBody>
      </p:sp>
    </p:spTree>
    <p:extLst>
      <p:ext uri="{BB962C8B-B14F-4D97-AF65-F5344CB8AC3E}">
        <p14:creationId xmlns:p14="http://schemas.microsoft.com/office/powerpoint/2010/main" val="1375707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Dealing with non-numerical data</a:t>
            </a:r>
            <a:endParaRPr lang="en-US" dirty="0">
              <a:solidFill>
                <a:srgbClr val="04B452"/>
              </a:solidFill>
            </a:endParaRPr>
          </a:p>
        </p:txBody>
      </p:sp>
      <p:sp>
        <p:nvSpPr>
          <p:cNvPr id="3" name="Content Placeholder 2"/>
          <p:cNvSpPr>
            <a:spLocks noGrp="1"/>
          </p:cNvSpPr>
          <p:nvPr>
            <p:ph idx="1"/>
          </p:nvPr>
        </p:nvSpPr>
        <p:spPr>
          <a:xfrm>
            <a:off x="166540" y="905138"/>
            <a:ext cx="7412611" cy="4525963"/>
          </a:xfrm>
        </p:spPr>
        <p:txBody>
          <a:bodyPr>
            <a:noAutofit/>
          </a:bodyPr>
          <a:lstStyle/>
          <a:p>
            <a:r>
              <a:rPr lang="en-US" sz="2400"/>
              <a:t>Preprocess the data to label the non-numerical data</a:t>
            </a:r>
          </a:p>
          <a:p>
            <a:endParaRPr lang="en-US" sz="2400"/>
          </a:p>
          <a:p>
            <a:r>
              <a:rPr lang="en-US" sz="2400"/>
              <a:t>Use different distance measures that can operate on non-numerical data.</a:t>
            </a:r>
          </a:p>
        </p:txBody>
      </p:sp>
      <p:sp>
        <p:nvSpPr>
          <p:cNvPr id="4" name="Slide Number Placeholder 3"/>
          <p:cNvSpPr>
            <a:spLocks noGrp="1"/>
          </p:cNvSpPr>
          <p:nvPr>
            <p:ph type="sldNum" sz="quarter" idx="12"/>
          </p:nvPr>
        </p:nvSpPr>
        <p:spPr/>
        <p:txBody>
          <a:bodyPr/>
          <a:lstStyle/>
          <a:p>
            <a:fld id="{7957FF81-3E34-4073-BF50-FE78B3EBEE2E}" type="slidenum">
              <a:rPr lang="en-US" smtClean="0"/>
              <a:t>10</a:t>
            </a:fld>
            <a:endParaRPr lang="en-US"/>
          </a:p>
        </p:txBody>
      </p:sp>
    </p:spTree>
    <p:extLst>
      <p:ext uri="{BB962C8B-B14F-4D97-AF65-F5344CB8AC3E}">
        <p14:creationId xmlns:p14="http://schemas.microsoft.com/office/powerpoint/2010/main" val="37077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Hyper-parameter for KNN (K)</a:t>
            </a:r>
            <a:endParaRPr lang="en-US" dirty="0">
              <a:solidFill>
                <a:srgbClr val="04B452"/>
              </a:solidFill>
            </a:endParaRPr>
          </a:p>
        </p:txBody>
      </p:sp>
      <p:sp>
        <p:nvSpPr>
          <p:cNvPr id="3" name="Content Placeholder 2"/>
          <p:cNvSpPr>
            <a:spLocks noGrp="1"/>
          </p:cNvSpPr>
          <p:nvPr>
            <p:ph idx="1"/>
          </p:nvPr>
        </p:nvSpPr>
        <p:spPr>
          <a:xfrm>
            <a:off x="166540" y="905138"/>
            <a:ext cx="7412611" cy="4525963"/>
          </a:xfrm>
        </p:spPr>
        <p:txBody>
          <a:bodyPr>
            <a:noAutofit/>
          </a:bodyPr>
          <a:lstStyle/>
          <a:p>
            <a:r>
              <a:rPr lang="en-US" sz="2000"/>
              <a:t>K  = Number of nearest neighbors</a:t>
            </a:r>
          </a:p>
          <a:p>
            <a:r>
              <a:rPr lang="en-US" sz="2000"/>
              <a:t>Which K gives the best performance?</a:t>
            </a:r>
          </a:p>
          <a:p>
            <a:endParaRPr lang="en-US" sz="2000"/>
          </a:p>
          <a:p>
            <a:r>
              <a:rPr lang="en-US" sz="2000"/>
              <a:t>You can build the model with different K values and find the corresponding Accuracy.</a:t>
            </a:r>
          </a:p>
          <a:p>
            <a:endParaRPr lang="en-US" sz="2000"/>
          </a:p>
          <a:p>
            <a:r>
              <a:rPr lang="en-US" sz="2000"/>
              <a:t>Even values for K are avoided for obvious reasons. </a:t>
            </a:r>
          </a:p>
          <a:p>
            <a:r>
              <a:rPr lang="en-US" sz="2000"/>
              <a:t>We want the majority VOTE from the nearest neighbors. </a:t>
            </a:r>
          </a:p>
          <a:p>
            <a:r>
              <a:rPr lang="en-US" sz="2000"/>
              <a:t>So, we need to avoid any possible ties. </a:t>
            </a:r>
          </a:p>
          <a:p>
            <a:endParaRPr lang="en-US" sz="2000"/>
          </a:p>
          <a:p>
            <a:r>
              <a:rPr lang="en-US" sz="2000"/>
              <a:t>Choosing the value of k:</a:t>
            </a:r>
          </a:p>
          <a:p>
            <a:pPr lvl="1"/>
            <a:r>
              <a:rPr lang="en-US" sz="2000"/>
              <a:t>If k is too small, sensitive to noise points</a:t>
            </a:r>
          </a:p>
          <a:p>
            <a:pPr lvl="1"/>
            <a:r>
              <a:rPr lang="en-US" sz="2000"/>
              <a:t>If k is too large, neighborhood may include points from other classes</a:t>
            </a:r>
          </a:p>
          <a:p>
            <a:endParaRPr lang="en-US" sz="2000"/>
          </a:p>
          <a:p>
            <a:endParaRPr lang="en-US" sz="2000"/>
          </a:p>
          <a:p>
            <a:endParaRPr lang="en-US" sz="2000"/>
          </a:p>
          <a:p>
            <a:endParaRPr lang="en-US" sz="2000"/>
          </a:p>
        </p:txBody>
      </p:sp>
      <p:sp>
        <p:nvSpPr>
          <p:cNvPr id="4" name="Slide Number Placeholder 3"/>
          <p:cNvSpPr>
            <a:spLocks noGrp="1"/>
          </p:cNvSpPr>
          <p:nvPr>
            <p:ph type="sldNum" sz="quarter" idx="12"/>
          </p:nvPr>
        </p:nvSpPr>
        <p:spPr/>
        <p:txBody>
          <a:bodyPr/>
          <a:lstStyle/>
          <a:p>
            <a:fld id="{7957FF81-3E34-4073-BF50-FE78B3EBEE2E}" type="slidenum">
              <a:rPr lang="en-US" smtClean="0"/>
              <a:t>11</a:t>
            </a:fld>
            <a:endParaRPr lang="en-US"/>
          </a:p>
        </p:txBody>
      </p:sp>
      <p:sp>
        <p:nvSpPr>
          <p:cNvPr id="6" name="TextBox 5">
            <a:extLst>
              <a:ext uri="{FF2B5EF4-FFF2-40B4-BE49-F238E27FC236}">
                <a16:creationId xmlns:a16="http://schemas.microsoft.com/office/drawing/2014/main" id="{A95443FC-DA55-C77F-353E-AE24FE8028A9}"/>
              </a:ext>
            </a:extLst>
          </p:cNvPr>
          <p:cNvSpPr txBox="1"/>
          <p:nvPr/>
        </p:nvSpPr>
        <p:spPr>
          <a:xfrm>
            <a:off x="7956223" y="1601609"/>
            <a:ext cx="6202836" cy="1200329"/>
          </a:xfrm>
          <a:prstGeom prst="rect">
            <a:avLst/>
          </a:prstGeom>
          <a:noFill/>
        </p:spPr>
        <p:txBody>
          <a:bodyPr wrap="square">
            <a:spAutoFit/>
          </a:bodyPr>
          <a:lstStyle/>
          <a:p>
            <a:r>
              <a:rPr lang="en-US" sz="2400" dirty="0"/>
              <a:t>Rule of thumb:</a:t>
            </a:r>
          </a:p>
          <a:p>
            <a:r>
              <a:rPr lang="en-US" sz="2400" dirty="0"/>
              <a:t>K = sqrt(N)</a:t>
            </a:r>
          </a:p>
          <a:p>
            <a:r>
              <a:rPr lang="en-US" sz="2400" dirty="0"/>
              <a:t>N: number of training points</a:t>
            </a:r>
          </a:p>
        </p:txBody>
      </p:sp>
    </p:spTree>
    <p:extLst>
      <p:ext uri="{BB962C8B-B14F-4D97-AF65-F5344CB8AC3E}">
        <p14:creationId xmlns:p14="http://schemas.microsoft.com/office/powerpoint/2010/main" val="193678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fade">
                                      <p:cBhvr>
                                        <p:cTn id="40" dur="500"/>
                                        <p:tgtEl>
                                          <p:spTgt spid="3">
                                            <p:txEl>
                                              <p:pRg st="10" end="1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fade">
                                      <p:cBhvr>
                                        <p:cTn id="43"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Hyper-parameter for KNN (Distance)</a:t>
            </a:r>
            <a:endParaRPr lang="en-US" dirty="0">
              <a:solidFill>
                <a:srgbClr val="04B452"/>
              </a:solidFill>
            </a:endParaRPr>
          </a:p>
        </p:txBody>
      </p:sp>
      <p:sp>
        <p:nvSpPr>
          <p:cNvPr id="7" name="Text Box 4">
            <a:extLst>
              <a:ext uri="{FF2B5EF4-FFF2-40B4-BE49-F238E27FC236}">
                <a16:creationId xmlns:a16="http://schemas.microsoft.com/office/drawing/2014/main" id="{75E815A8-99C7-90BF-41E9-4928AB351824}"/>
              </a:ext>
            </a:extLst>
          </p:cNvPr>
          <p:cNvSpPr txBox="1">
            <a:spLocks noChangeArrowheads="1"/>
          </p:cNvSpPr>
          <p:nvPr/>
        </p:nvSpPr>
        <p:spPr bwMode="auto">
          <a:xfrm>
            <a:off x="796565" y="3346450"/>
            <a:ext cx="3200400" cy="469900"/>
          </a:xfrm>
          <a:prstGeom prst="rect">
            <a:avLst/>
          </a:prstGeom>
          <a:noFill/>
          <a:ln w="12700">
            <a:solidFill>
              <a:schemeClr val="tx1"/>
            </a:solidFill>
            <a:miter lim="800000"/>
            <a:headEnd/>
            <a:tailEnd/>
          </a:ln>
        </p:spPr>
        <p:txBody>
          <a:bodyPr>
            <a:spAutoFit/>
          </a:bodyPr>
          <a:lstStyle/>
          <a:p>
            <a:pPr>
              <a:spcBef>
                <a:spcPct val="50000"/>
              </a:spcBef>
            </a:pPr>
            <a:r>
              <a:rPr lang="en-US" sz="2400" dirty="0"/>
              <a:t>1 1 1 1 1 1 1 1 1 1 1 0</a:t>
            </a:r>
          </a:p>
        </p:txBody>
      </p:sp>
      <p:sp>
        <p:nvSpPr>
          <p:cNvPr id="8" name="Text Box 5">
            <a:extLst>
              <a:ext uri="{FF2B5EF4-FFF2-40B4-BE49-F238E27FC236}">
                <a16:creationId xmlns:a16="http://schemas.microsoft.com/office/drawing/2014/main" id="{592FC7A9-05A2-2C49-FABB-84A344BA7F01}"/>
              </a:ext>
            </a:extLst>
          </p:cNvPr>
          <p:cNvSpPr txBox="1">
            <a:spLocks noChangeArrowheads="1"/>
          </p:cNvSpPr>
          <p:nvPr/>
        </p:nvSpPr>
        <p:spPr bwMode="auto">
          <a:xfrm>
            <a:off x="796565" y="4032250"/>
            <a:ext cx="3200400" cy="469900"/>
          </a:xfrm>
          <a:prstGeom prst="rect">
            <a:avLst/>
          </a:prstGeom>
          <a:noFill/>
          <a:ln w="12700">
            <a:solidFill>
              <a:schemeClr val="tx1"/>
            </a:solidFill>
            <a:miter lim="800000"/>
            <a:headEnd/>
            <a:tailEnd/>
          </a:ln>
        </p:spPr>
        <p:txBody>
          <a:bodyPr>
            <a:spAutoFit/>
          </a:bodyPr>
          <a:lstStyle/>
          <a:p>
            <a:pPr>
              <a:spcBef>
                <a:spcPct val="50000"/>
              </a:spcBef>
            </a:pPr>
            <a:r>
              <a:rPr lang="en-US" sz="2400" dirty="0"/>
              <a:t>0 1 1 1 1 1 1 1 1 1 1 1</a:t>
            </a:r>
          </a:p>
        </p:txBody>
      </p:sp>
      <p:sp>
        <p:nvSpPr>
          <p:cNvPr id="9" name="Text Box 6">
            <a:extLst>
              <a:ext uri="{FF2B5EF4-FFF2-40B4-BE49-F238E27FC236}">
                <a16:creationId xmlns:a16="http://schemas.microsoft.com/office/drawing/2014/main" id="{D6FB20BF-24F4-6040-E021-F457734DC102}"/>
              </a:ext>
            </a:extLst>
          </p:cNvPr>
          <p:cNvSpPr txBox="1">
            <a:spLocks noChangeArrowheads="1"/>
          </p:cNvSpPr>
          <p:nvPr/>
        </p:nvSpPr>
        <p:spPr bwMode="auto">
          <a:xfrm>
            <a:off x="5216165" y="3359150"/>
            <a:ext cx="3200400" cy="469900"/>
          </a:xfrm>
          <a:prstGeom prst="rect">
            <a:avLst/>
          </a:prstGeom>
          <a:noFill/>
          <a:ln w="12700">
            <a:solidFill>
              <a:schemeClr val="tx1"/>
            </a:solidFill>
            <a:miter lim="800000"/>
            <a:headEnd/>
            <a:tailEnd/>
          </a:ln>
        </p:spPr>
        <p:txBody>
          <a:bodyPr>
            <a:spAutoFit/>
          </a:bodyPr>
          <a:lstStyle/>
          <a:p>
            <a:pPr>
              <a:spcBef>
                <a:spcPct val="50000"/>
              </a:spcBef>
            </a:pPr>
            <a:r>
              <a:rPr lang="en-US" sz="2400" dirty="0"/>
              <a:t>1 0 0 0 0 0 0 0 0 0 0 0</a:t>
            </a:r>
          </a:p>
        </p:txBody>
      </p:sp>
      <p:sp>
        <p:nvSpPr>
          <p:cNvPr id="11" name="Text Box 7">
            <a:extLst>
              <a:ext uri="{FF2B5EF4-FFF2-40B4-BE49-F238E27FC236}">
                <a16:creationId xmlns:a16="http://schemas.microsoft.com/office/drawing/2014/main" id="{C72589BA-6088-4BBC-9F7D-8B869FC9F0F3}"/>
              </a:ext>
            </a:extLst>
          </p:cNvPr>
          <p:cNvSpPr txBox="1">
            <a:spLocks noChangeArrowheads="1"/>
          </p:cNvSpPr>
          <p:nvPr/>
        </p:nvSpPr>
        <p:spPr bwMode="auto">
          <a:xfrm>
            <a:off x="5216165" y="4044950"/>
            <a:ext cx="3200400" cy="469900"/>
          </a:xfrm>
          <a:prstGeom prst="rect">
            <a:avLst/>
          </a:prstGeom>
          <a:noFill/>
          <a:ln w="12700">
            <a:solidFill>
              <a:schemeClr val="tx1"/>
            </a:solidFill>
            <a:miter lim="800000"/>
            <a:headEnd/>
            <a:tailEnd/>
          </a:ln>
        </p:spPr>
        <p:txBody>
          <a:bodyPr>
            <a:spAutoFit/>
          </a:bodyPr>
          <a:lstStyle/>
          <a:p>
            <a:pPr>
              <a:spcBef>
                <a:spcPct val="50000"/>
              </a:spcBef>
            </a:pPr>
            <a:r>
              <a:rPr lang="en-US" sz="2400"/>
              <a:t>0 0 0 0 0 0 0 0 0 0 0 1</a:t>
            </a:r>
          </a:p>
        </p:txBody>
      </p:sp>
      <p:sp>
        <p:nvSpPr>
          <p:cNvPr id="12" name="Rectangle 8">
            <a:extLst>
              <a:ext uri="{FF2B5EF4-FFF2-40B4-BE49-F238E27FC236}">
                <a16:creationId xmlns:a16="http://schemas.microsoft.com/office/drawing/2014/main" id="{33C49ABD-C676-50DA-30C1-72B99521ED2E}"/>
              </a:ext>
            </a:extLst>
          </p:cNvPr>
          <p:cNvSpPr>
            <a:spLocks noChangeArrowheads="1"/>
          </p:cNvSpPr>
          <p:nvPr/>
        </p:nvSpPr>
        <p:spPr bwMode="auto">
          <a:xfrm>
            <a:off x="4301765" y="3663950"/>
            <a:ext cx="558800" cy="609600"/>
          </a:xfrm>
          <a:prstGeom prst="rect">
            <a:avLst/>
          </a:prstGeom>
          <a:noFill/>
          <a:ln w="9525">
            <a:noFill/>
            <a:miter lim="800000"/>
            <a:headEnd/>
            <a:tailEnd/>
          </a:ln>
        </p:spPr>
        <p:txBody>
          <a:bodyPr/>
          <a:lstStyle/>
          <a:p>
            <a:pPr marL="342900" indent="-342900">
              <a:spcBef>
                <a:spcPct val="10000"/>
              </a:spcBef>
              <a:spcAft>
                <a:spcPts val="400"/>
              </a:spcAft>
              <a:buClr>
                <a:srgbClr val="0C7B9C"/>
              </a:buClr>
              <a:buSzPct val="75000"/>
              <a:buFont typeface="Monotype Sorts" pitchFamily="2" charset="2"/>
              <a:buNone/>
            </a:pPr>
            <a:r>
              <a:rPr lang="en-US" sz="2400" b="0"/>
              <a:t>vs</a:t>
            </a:r>
          </a:p>
        </p:txBody>
      </p:sp>
      <p:sp>
        <p:nvSpPr>
          <p:cNvPr id="13" name="Text Box 9">
            <a:extLst>
              <a:ext uri="{FF2B5EF4-FFF2-40B4-BE49-F238E27FC236}">
                <a16:creationId xmlns:a16="http://schemas.microsoft.com/office/drawing/2014/main" id="{FDDFBDB6-C8E6-3A44-9AB9-1AFE3F04F4C1}"/>
              </a:ext>
            </a:extLst>
          </p:cNvPr>
          <p:cNvSpPr txBox="1">
            <a:spLocks noChangeArrowheads="1"/>
          </p:cNvSpPr>
          <p:nvPr/>
        </p:nvSpPr>
        <p:spPr bwMode="auto">
          <a:xfrm>
            <a:off x="1634765" y="4641850"/>
            <a:ext cx="1676400" cy="396875"/>
          </a:xfrm>
          <a:prstGeom prst="rect">
            <a:avLst/>
          </a:prstGeom>
          <a:noFill/>
          <a:ln w="12700">
            <a:noFill/>
            <a:miter lim="800000"/>
            <a:headEnd/>
            <a:tailEnd/>
          </a:ln>
        </p:spPr>
        <p:txBody>
          <a:bodyPr>
            <a:spAutoFit/>
          </a:bodyPr>
          <a:lstStyle/>
          <a:p>
            <a:pPr>
              <a:spcBef>
                <a:spcPct val="50000"/>
              </a:spcBef>
            </a:pPr>
            <a:r>
              <a:rPr lang="en-US" sz="2000"/>
              <a:t>d = 1.4142</a:t>
            </a:r>
          </a:p>
        </p:txBody>
      </p:sp>
      <p:sp>
        <p:nvSpPr>
          <p:cNvPr id="14" name="Text Box 10">
            <a:extLst>
              <a:ext uri="{FF2B5EF4-FFF2-40B4-BE49-F238E27FC236}">
                <a16:creationId xmlns:a16="http://schemas.microsoft.com/office/drawing/2014/main" id="{52302B10-B0A3-2D3A-E725-011AAD7A7201}"/>
              </a:ext>
            </a:extLst>
          </p:cNvPr>
          <p:cNvSpPr txBox="1">
            <a:spLocks noChangeArrowheads="1"/>
          </p:cNvSpPr>
          <p:nvPr/>
        </p:nvSpPr>
        <p:spPr bwMode="auto">
          <a:xfrm>
            <a:off x="6054365" y="4641850"/>
            <a:ext cx="1676400" cy="396875"/>
          </a:xfrm>
          <a:prstGeom prst="rect">
            <a:avLst/>
          </a:prstGeom>
          <a:noFill/>
          <a:ln w="12700">
            <a:noFill/>
            <a:miter lim="800000"/>
            <a:headEnd/>
            <a:tailEnd/>
          </a:ln>
        </p:spPr>
        <p:txBody>
          <a:bodyPr>
            <a:spAutoFit/>
          </a:bodyPr>
          <a:lstStyle/>
          <a:p>
            <a:pPr>
              <a:spcBef>
                <a:spcPct val="50000"/>
              </a:spcBef>
            </a:pPr>
            <a:r>
              <a:rPr lang="en-US" sz="2000"/>
              <a:t>d = 1.4142</a:t>
            </a:r>
          </a:p>
        </p:txBody>
      </p:sp>
      <p:sp>
        <p:nvSpPr>
          <p:cNvPr id="15" name="TextBox 14">
            <a:extLst>
              <a:ext uri="{FF2B5EF4-FFF2-40B4-BE49-F238E27FC236}">
                <a16:creationId xmlns:a16="http://schemas.microsoft.com/office/drawing/2014/main" id="{84913955-4F52-34C2-AC8F-2A45F4DA7C3A}"/>
              </a:ext>
            </a:extLst>
          </p:cNvPr>
          <p:cNvSpPr txBox="1"/>
          <p:nvPr/>
        </p:nvSpPr>
        <p:spPr>
          <a:xfrm>
            <a:off x="796565" y="1244338"/>
            <a:ext cx="4589398" cy="461665"/>
          </a:xfrm>
          <a:prstGeom prst="rect">
            <a:avLst/>
          </a:prstGeom>
          <a:noFill/>
        </p:spPr>
        <p:txBody>
          <a:bodyPr wrap="none" rtlCol="0">
            <a:spAutoFit/>
          </a:bodyPr>
          <a:lstStyle/>
          <a:p>
            <a:r>
              <a:rPr lang="en-US" sz="2400"/>
              <a:t>What distance measure is suitable?</a:t>
            </a:r>
          </a:p>
        </p:txBody>
      </p:sp>
    </p:spTree>
    <p:extLst>
      <p:ext uri="{BB962C8B-B14F-4D97-AF65-F5344CB8AC3E}">
        <p14:creationId xmlns:p14="http://schemas.microsoft.com/office/powerpoint/2010/main" val="242753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Hyper-parameter for KNN (Distance)</a:t>
            </a:r>
            <a:endParaRPr lang="en-US" dirty="0">
              <a:solidFill>
                <a:srgbClr val="04B452"/>
              </a:solidFill>
            </a:endParaRPr>
          </a:p>
        </p:txBody>
      </p:sp>
      <p:sp>
        <p:nvSpPr>
          <p:cNvPr id="3" name="Content Placeholder 2"/>
          <p:cNvSpPr>
            <a:spLocks noGrp="1"/>
          </p:cNvSpPr>
          <p:nvPr>
            <p:ph idx="1"/>
          </p:nvPr>
        </p:nvSpPr>
        <p:spPr>
          <a:xfrm>
            <a:off x="166540" y="905138"/>
            <a:ext cx="6941270" cy="4525963"/>
          </a:xfrm>
        </p:spPr>
        <p:txBody>
          <a:bodyPr>
            <a:noAutofit/>
          </a:bodyPr>
          <a:lstStyle/>
          <a:p>
            <a:r>
              <a:rPr lang="en-US" sz="2000"/>
              <a:t>Distance Metric (default = Ecuclidean)</a:t>
            </a:r>
          </a:p>
          <a:p>
            <a:r>
              <a:rPr lang="en-US" sz="2000"/>
              <a:t>'euclidean', 'manhattan', 'minkowski’, ‘jaccard’, ‘hamming’</a:t>
            </a:r>
          </a:p>
          <a:p>
            <a:endParaRPr lang="en-US" sz="2000"/>
          </a:p>
          <a:p>
            <a:r>
              <a:rPr lang="en-US" sz="2000"/>
              <a:t>The choice of distance metric can have a significant impact on the performance of a KNN model, depending on the structure of the data and the problem bei</a:t>
            </a:r>
          </a:p>
          <a:p>
            <a:endParaRPr lang="en-US" sz="2000"/>
          </a:p>
          <a:p>
            <a:r>
              <a:rPr lang="en-US" sz="2000"/>
              <a:t>Euclidean distance is sensitive to scale. If you have data in different scales, using Manhattan distance or the Chebyshev distance may be more appropriate.</a:t>
            </a:r>
          </a:p>
          <a:p>
            <a:r>
              <a:rPr lang="en-US" sz="2000"/>
              <a:t>For categorical values, using Jaccard or Hamming distances may be more appropriate.</a:t>
            </a:r>
          </a:p>
        </p:txBody>
      </p:sp>
      <p:sp>
        <p:nvSpPr>
          <p:cNvPr id="4" name="Slide Number Placeholder 3"/>
          <p:cNvSpPr>
            <a:spLocks noGrp="1"/>
          </p:cNvSpPr>
          <p:nvPr>
            <p:ph type="sldNum" sz="quarter" idx="12"/>
          </p:nvPr>
        </p:nvSpPr>
        <p:spPr/>
        <p:txBody>
          <a:bodyPr/>
          <a:lstStyle/>
          <a:p>
            <a:fld id="{7957FF81-3E34-4073-BF50-FE78B3EBEE2E}" type="slidenum">
              <a:rPr lang="en-US" smtClean="0"/>
              <a:t>13</a:t>
            </a:fld>
            <a:endParaRPr lang="en-US"/>
          </a:p>
        </p:txBody>
      </p:sp>
      <p:pic>
        <p:nvPicPr>
          <p:cNvPr id="1026" name="Picture 2">
            <a:extLst>
              <a:ext uri="{FF2B5EF4-FFF2-40B4-BE49-F238E27FC236}">
                <a16:creationId xmlns:a16="http://schemas.microsoft.com/office/drawing/2014/main" id="{79DF2232-7D70-3783-826E-8788DFD63C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0710" y="660297"/>
            <a:ext cx="4487500" cy="452596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0DD319B-D695-6124-FB70-892BA25ECF91}"/>
              </a:ext>
            </a:extLst>
          </p:cNvPr>
          <p:cNvSpPr txBox="1"/>
          <p:nvPr/>
        </p:nvSpPr>
        <p:spPr>
          <a:xfrm>
            <a:off x="0" y="6064067"/>
            <a:ext cx="10228082" cy="369332"/>
          </a:xfrm>
          <a:prstGeom prst="rect">
            <a:avLst/>
          </a:prstGeom>
          <a:noFill/>
        </p:spPr>
        <p:txBody>
          <a:bodyPr wrap="square">
            <a:spAutoFit/>
          </a:bodyPr>
          <a:lstStyle/>
          <a:p>
            <a:r>
              <a:rPr lang="en-US">
                <a:hlinkClick r:id="rId3"/>
              </a:rPr>
              <a:t>https://towardsdatascience.com/9-distance-measures-in-data-science-918109d069fa</a:t>
            </a:r>
            <a:r>
              <a:rPr lang="en-US"/>
              <a:t> </a:t>
            </a:r>
          </a:p>
        </p:txBody>
      </p:sp>
    </p:spTree>
    <p:extLst>
      <p:ext uri="{BB962C8B-B14F-4D97-AF65-F5344CB8AC3E}">
        <p14:creationId xmlns:p14="http://schemas.microsoft.com/office/powerpoint/2010/main" val="409025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K-NN : Computational Complexity</a:t>
            </a:r>
            <a:endParaRPr lang="en-US" dirty="0">
              <a:solidFill>
                <a:srgbClr val="04B452"/>
              </a:solidFill>
            </a:endParaRPr>
          </a:p>
        </p:txBody>
      </p:sp>
      <p:sp>
        <p:nvSpPr>
          <p:cNvPr id="3" name="Content Placeholder 2"/>
          <p:cNvSpPr>
            <a:spLocks noGrp="1"/>
          </p:cNvSpPr>
          <p:nvPr>
            <p:ph idx="1"/>
          </p:nvPr>
        </p:nvSpPr>
        <p:spPr>
          <a:xfrm>
            <a:off x="166540" y="905138"/>
            <a:ext cx="10306639" cy="4525963"/>
          </a:xfrm>
        </p:spPr>
        <p:txBody>
          <a:bodyPr>
            <a:noAutofit/>
          </a:bodyPr>
          <a:lstStyle/>
          <a:p>
            <a:r>
              <a:rPr lang="en-US" altLang="en-US" sz="2400" dirty="0"/>
              <a:t>Suppose there are m instances and n features in the dataset</a:t>
            </a:r>
          </a:p>
          <a:p>
            <a:r>
              <a:rPr lang="en-US" altLang="en-US" sz="2400" dirty="0"/>
              <a:t>Nearest neighbor algorithm requires computing m distances</a:t>
            </a:r>
          </a:p>
          <a:p>
            <a:r>
              <a:rPr lang="en-US" altLang="en-US" sz="2400" dirty="0"/>
              <a:t>Each distance computation involves scanning through each feature value</a:t>
            </a:r>
          </a:p>
          <a:p>
            <a:r>
              <a:rPr lang="en-US" altLang="en-US" sz="2400"/>
              <a:t>Running time complexity is proportional to n * n</a:t>
            </a:r>
          </a:p>
        </p:txBody>
      </p:sp>
      <p:sp>
        <p:nvSpPr>
          <p:cNvPr id="4" name="Slide Number Placeholder 3"/>
          <p:cNvSpPr>
            <a:spLocks noGrp="1"/>
          </p:cNvSpPr>
          <p:nvPr>
            <p:ph type="sldNum" sz="quarter" idx="12"/>
          </p:nvPr>
        </p:nvSpPr>
        <p:spPr/>
        <p:txBody>
          <a:bodyPr/>
          <a:lstStyle/>
          <a:p>
            <a:fld id="{7957FF81-3E34-4073-BF50-FE78B3EBEE2E}" type="slidenum">
              <a:rPr lang="en-US" smtClean="0"/>
              <a:t>14</a:t>
            </a:fld>
            <a:endParaRPr lang="en-US"/>
          </a:p>
        </p:txBody>
      </p:sp>
    </p:spTree>
    <p:extLst>
      <p:ext uri="{BB962C8B-B14F-4D97-AF65-F5344CB8AC3E}">
        <p14:creationId xmlns:p14="http://schemas.microsoft.com/office/powerpoint/2010/main" val="131658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687"/>
            <a:ext cx="10972800" cy="721149"/>
          </a:xfrm>
        </p:spPr>
        <p:txBody>
          <a:bodyPr>
            <a:normAutofit fontScale="90000"/>
          </a:bodyPr>
          <a:lstStyle/>
          <a:p>
            <a:pPr algn="l"/>
            <a:r>
              <a:rPr lang="en-US">
                <a:solidFill>
                  <a:srgbClr val="04B452"/>
                </a:solidFill>
              </a:rPr>
              <a:t>Summary</a:t>
            </a:r>
            <a:endParaRPr lang="en-US" dirty="0">
              <a:solidFill>
                <a:srgbClr val="04B452"/>
              </a:solidFill>
            </a:endParaRPr>
          </a:p>
        </p:txBody>
      </p:sp>
      <p:sp>
        <p:nvSpPr>
          <p:cNvPr id="3" name="Content Placeholder 2"/>
          <p:cNvSpPr>
            <a:spLocks noGrp="1"/>
          </p:cNvSpPr>
          <p:nvPr>
            <p:ph idx="1"/>
          </p:nvPr>
        </p:nvSpPr>
        <p:spPr>
          <a:xfrm>
            <a:off x="166540" y="905138"/>
            <a:ext cx="7412611" cy="4525963"/>
          </a:xfrm>
        </p:spPr>
        <p:txBody>
          <a:bodyPr>
            <a:noAutofit/>
          </a:bodyPr>
          <a:lstStyle/>
          <a:p>
            <a:r>
              <a:rPr lang="en-US" sz="2400"/>
              <a:t>Very simple and intuitive ML algorithm </a:t>
            </a:r>
          </a:p>
          <a:p>
            <a:r>
              <a:rPr lang="en-US" sz="2400"/>
              <a:t>Useful for both Classification and Regression problems.</a:t>
            </a:r>
          </a:p>
          <a:p>
            <a:r>
              <a:rPr lang="en-US" sz="2400"/>
              <a:t>Two hyper parameters – K and Distance Metric</a:t>
            </a:r>
          </a:p>
        </p:txBody>
      </p:sp>
      <p:sp>
        <p:nvSpPr>
          <p:cNvPr id="4" name="Slide Number Placeholder 3"/>
          <p:cNvSpPr>
            <a:spLocks noGrp="1"/>
          </p:cNvSpPr>
          <p:nvPr>
            <p:ph type="sldNum" sz="quarter" idx="12"/>
          </p:nvPr>
        </p:nvSpPr>
        <p:spPr/>
        <p:txBody>
          <a:bodyPr/>
          <a:lstStyle/>
          <a:p>
            <a:fld id="{7957FF81-3E34-4073-BF50-FE78B3EBEE2E}" type="slidenum">
              <a:rPr lang="en-US" smtClean="0"/>
              <a:t>15</a:t>
            </a:fld>
            <a:endParaRPr lang="en-US"/>
          </a:p>
        </p:txBody>
      </p:sp>
    </p:spTree>
    <p:extLst>
      <p:ext uri="{BB962C8B-B14F-4D97-AF65-F5344CB8AC3E}">
        <p14:creationId xmlns:p14="http://schemas.microsoft.com/office/powerpoint/2010/main" val="278739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7503" y="1798431"/>
            <a:ext cx="7772400" cy="1470025"/>
          </a:xfrm>
        </p:spPr>
        <p:txBody>
          <a:bodyPr>
            <a:normAutofit fontScale="90000"/>
          </a:bodyPr>
          <a:lstStyle/>
          <a:p>
            <a:r>
              <a:rPr lang="en-US" sz="4800" dirty="0">
                <a:solidFill>
                  <a:srgbClr val="04B452"/>
                </a:solidFill>
              </a:rPr>
              <a:t>Any Questions?</a:t>
            </a:r>
            <a:br>
              <a:rPr lang="en-US" sz="4800" dirty="0">
                <a:solidFill>
                  <a:srgbClr val="04B452"/>
                </a:solidFill>
              </a:rPr>
            </a:br>
            <a:br>
              <a:rPr lang="en-US" sz="4800" dirty="0">
                <a:solidFill>
                  <a:srgbClr val="04B452"/>
                </a:solidFill>
              </a:rPr>
            </a:br>
            <a:r>
              <a:rPr lang="en-US" sz="4800" dirty="0">
                <a:solidFill>
                  <a:srgbClr val="04B452"/>
                </a:solidFill>
              </a:rPr>
              <a:t>Thank You.</a:t>
            </a:r>
          </a:p>
        </p:txBody>
      </p:sp>
      <p:sp>
        <p:nvSpPr>
          <p:cNvPr id="4" name="TextBox 4">
            <a:extLst>
              <a:ext uri="{FF2B5EF4-FFF2-40B4-BE49-F238E27FC236}">
                <a16:creationId xmlns:a16="http://schemas.microsoft.com/office/drawing/2014/main" id="{205CBE0D-6E88-49A9-9F78-FA8F4A2A4679}"/>
              </a:ext>
            </a:extLst>
          </p:cNvPr>
          <p:cNvSpPr txBox="1"/>
          <p:nvPr/>
        </p:nvSpPr>
        <p:spPr>
          <a:xfrm>
            <a:off x="3008563" y="4767640"/>
            <a:ext cx="18466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5" name="TextBox 6">
            <a:extLst>
              <a:ext uri="{FF2B5EF4-FFF2-40B4-BE49-F238E27FC236}">
                <a16:creationId xmlns:a16="http://schemas.microsoft.com/office/drawing/2014/main" id="{9C07F57A-79B6-40CD-A6E6-C4D610B69EBC}"/>
              </a:ext>
            </a:extLst>
          </p:cNvPr>
          <p:cNvSpPr txBox="1"/>
          <p:nvPr/>
        </p:nvSpPr>
        <p:spPr>
          <a:xfrm>
            <a:off x="3008563" y="4767640"/>
            <a:ext cx="18466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f75f480-7803-4ee9-bb54-84d0635fdbe7}" enabled="1" method="Privilege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1104</TotalTime>
  <Words>1134</Words>
  <Application>Microsoft Office PowerPoint</Application>
  <PresentationFormat>Widescreen</PresentationFormat>
  <Paragraphs>131</Paragraphs>
  <Slides>16</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2" baseType="lpstr">
      <vt:lpstr>Arial</vt:lpstr>
      <vt:lpstr>Calibri</vt:lpstr>
      <vt:lpstr>Monotype Sorts</vt:lpstr>
      <vt:lpstr>Wingdings</vt:lpstr>
      <vt:lpstr>Office Theme</vt:lpstr>
      <vt:lpstr>VISIO</vt:lpstr>
      <vt:lpstr>PowerPoint Presentation</vt:lpstr>
      <vt:lpstr>Supervised Learning</vt:lpstr>
      <vt:lpstr>Nearest Neighbor Classifier</vt:lpstr>
      <vt:lpstr>K-NN  is based on</vt:lpstr>
      <vt:lpstr>K-NN : Basic classification principle</vt:lpstr>
      <vt:lpstr>K-NN : Nearest Neighbors? How many?</vt:lpstr>
      <vt:lpstr>K-NN for Classification and Regression</vt:lpstr>
      <vt:lpstr>Applications of KNN</vt:lpstr>
      <vt:lpstr>Features of KNN</vt:lpstr>
      <vt:lpstr>Dealing with non-numerical data</vt:lpstr>
      <vt:lpstr>Hyper-parameter for KNN (K)</vt:lpstr>
      <vt:lpstr>Hyper-parameter for KNN (Distance)</vt:lpstr>
      <vt:lpstr>Hyper-parameter for KNN (Distance)</vt:lpstr>
      <vt:lpstr>K-NN : Computational Complexity</vt:lpstr>
      <vt:lpstr>Summary</vt:lpstr>
      <vt:lpstr>Any Questions?  Thank You.</vt:lpstr>
    </vt:vector>
  </TitlesOfParts>
  <Company>Fabric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Harwood</dc:creator>
  <cp:keywords>C_Unrestricted</cp:keywords>
  <cp:lastModifiedBy>Jasthi, Jasthi (DI SW PLM LCS DEVOPS)</cp:lastModifiedBy>
  <cp:revision>74</cp:revision>
  <dcterms:created xsi:type="dcterms:W3CDTF">2014-09-03T22:10:43Z</dcterms:created>
  <dcterms:modified xsi:type="dcterms:W3CDTF">2023-12-06T20:14:34Z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 Confidentiality">
    <vt:lpwstr>Unrestricted</vt:lpwstr>
  </property>
  <property fmtid="{D5CDD505-2E9C-101B-9397-08002B2CF9AE}" pid="3" name="sodocoClasLang">
    <vt:lpwstr>Unrestricted</vt:lpwstr>
  </property>
  <property fmtid="{D5CDD505-2E9C-101B-9397-08002B2CF9AE}" pid="4" name="sodocoClasLangId">
    <vt:i4>0</vt:i4>
  </property>
  <property fmtid="{D5CDD505-2E9C-101B-9397-08002B2CF9AE}" pid="5" name="sodocoClasId">
    <vt:i4>0</vt:i4>
  </property>
  <property fmtid="{D5CDD505-2E9C-101B-9397-08002B2CF9AE}" pid="6" name="MSIP_Label_6f75f480-7803-4ee9-bb54-84d0635fdbe7_Enabled">
    <vt:lpwstr>true</vt:lpwstr>
  </property>
  <property fmtid="{D5CDD505-2E9C-101B-9397-08002B2CF9AE}" pid="7" name="MSIP_Label_6f75f480-7803-4ee9-bb54-84d0635fdbe7_SetDate">
    <vt:lpwstr>2023-11-08T00:42:36Z</vt:lpwstr>
  </property>
  <property fmtid="{D5CDD505-2E9C-101B-9397-08002B2CF9AE}" pid="8" name="MSIP_Label_6f75f480-7803-4ee9-bb54-84d0635fdbe7_Method">
    <vt:lpwstr>Privileged</vt:lpwstr>
  </property>
  <property fmtid="{D5CDD505-2E9C-101B-9397-08002B2CF9AE}" pid="9" name="MSIP_Label_6f75f480-7803-4ee9-bb54-84d0635fdbe7_Name">
    <vt:lpwstr>unrestricted</vt:lpwstr>
  </property>
  <property fmtid="{D5CDD505-2E9C-101B-9397-08002B2CF9AE}" pid="10" name="MSIP_Label_6f75f480-7803-4ee9-bb54-84d0635fdbe7_SiteId">
    <vt:lpwstr>38ae3bcd-9579-4fd4-adda-b42e1495d55a</vt:lpwstr>
  </property>
  <property fmtid="{D5CDD505-2E9C-101B-9397-08002B2CF9AE}" pid="11" name="MSIP_Label_6f75f480-7803-4ee9-bb54-84d0635fdbe7_ActionId">
    <vt:lpwstr>5430a409-3ccc-4c9c-865b-e07439b2d2a8</vt:lpwstr>
  </property>
  <property fmtid="{D5CDD505-2E9C-101B-9397-08002B2CF9AE}" pid="12" name="MSIP_Label_6f75f480-7803-4ee9-bb54-84d0635fdbe7_ContentBits">
    <vt:lpwstr>0</vt:lpwstr>
  </property>
  <property fmtid="{D5CDD505-2E9C-101B-9397-08002B2CF9AE}" pid="13" name="Document_Confidentiality">
    <vt:lpwstr>Unrestricted</vt:lpwstr>
  </property>
</Properties>
</file>